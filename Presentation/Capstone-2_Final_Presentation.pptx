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7"/>
  </p:notesMasterIdLst>
  <p:sldIdLst>
    <p:sldId id="256" r:id="rId2"/>
    <p:sldId id="257" r:id="rId3"/>
    <p:sldId id="258" r:id="rId4"/>
    <p:sldId id="259" r:id="rId5"/>
    <p:sldId id="260" r:id="rId6"/>
    <p:sldId id="261" r:id="rId7"/>
    <p:sldId id="262" r:id="rId8"/>
    <p:sldId id="277" r:id="rId9"/>
    <p:sldId id="278" r:id="rId10"/>
    <p:sldId id="264" r:id="rId11"/>
    <p:sldId id="270" r:id="rId12"/>
    <p:sldId id="280" r:id="rId13"/>
    <p:sldId id="276" r:id="rId14"/>
    <p:sldId id="265" r:id="rId15"/>
    <p:sldId id="263" r:id="rId16"/>
    <p:sldId id="279" r:id="rId17"/>
    <p:sldId id="266" r:id="rId18"/>
    <p:sldId id="267" r:id="rId19"/>
    <p:sldId id="269" r:id="rId20"/>
    <p:sldId id="268" r:id="rId21"/>
    <p:sldId id="271" r:id="rId22"/>
    <p:sldId id="272" r:id="rId23"/>
    <p:sldId id="275" r:id="rId24"/>
    <p:sldId id="274" r:id="rId25"/>
    <p:sldId id="27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629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93AE3F-0181-4C08-96D7-2D415ED950E2}"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BC20D2-A1CD-40EF-8F46-3243158F99AB}" type="slidenum">
              <a:rPr lang="en-US" smtClean="0"/>
              <a:t>‹#›</a:t>
            </a:fld>
            <a:endParaRPr lang="en-US"/>
          </a:p>
        </p:txBody>
      </p:sp>
    </p:spTree>
    <p:extLst>
      <p:ext uri="{BB962C8B-B14F-4D97-AF65-F5344CB8AC3E}">
        <p14:creationId xmlns:p14="http://schemas.microsoft.com/office/powerpoint/2010/main" val="957826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BC20D2-A1CD-40EF-8F46-3243158F99AB}" type="slidenum">
              <a:rPr lang="en-US" smtClean="0"/>
              <a:t>15</a:t>
            </a:fld>
            <a:endParaRPr lang="en-US"/>
          </a:p>
        </p:txBody>
      </p:sp>
    </p:spTree>
    <p:extLst>
      <p:ext uri="{BB962C8B-B14F-4D97-AF65-F5344CB8AC3E}">
        <p14:creationId xmlns:p14="http://schemas.microsoft.com/office/powerpoint/2010/main" val="2485773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CE9A99-B4B2-46E2-AD10-7D4465507097}" type="datetime1">
              <a:rPr lang="en-US" smtClean="0"/>
              <a:t>12/5/2025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1531938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537FA6-298A-4480-8F2A-E990ECE92A74}" type="datetime1">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1057883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39BC5E-7FE8-4D4C-878C-99E47392D5ED}" type="datetime1">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355668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1A55F7-C0CA-455A-9D49-AF31950161C5}" type="datetime1">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2692954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DE33C8-97FB-4239-A414-1EA8C6778190}" type="datetime1">
              <a:rPr lang="en-US" smtClean="0"/>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1375717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D2C25E-B2AF-4D79-889B-38849267E531}" type="datetime1">
              <a:rPr lang="en-US" smtClean="0"/>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3214601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242804-E419-49CB-889C-51D98A38F276}" type="datetime1">
              <a:rPr lang="en-US" smtClean="0"/>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1708991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D0F514-3A80-40EA-AFC3-E0BE2A574E46}" type="datetime1">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1630506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1068B6-D86F-42F4-B8B0-A2C4DE74CAC8}" type="datetime1">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2451542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844267-4D53-4F5D-83C2-1B9D60A808AB}" type="datetime1">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1688029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9823B1-7F9D-48BA-A8FD-BF5FE4CCB644}" type="datetime1">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374506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7AC45F-DED8-429A-A13C-223F03F84839}" type="datetime1">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3055773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9C6B34-DE26-4F1B-8687-E726BD9B244E}" type="datetime1">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34006024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552598-9DAE-48F0-9211-163470C507F5}" type="datetime1">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32190993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75D1ED-4173-4CE6-B7D2-E020CCF8792D}" type="datetime1">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31080637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1A55E8-06CE-4950-8AE5-42781762EF34}" type="datetime1">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33992462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177F84-7F0D-47CE-8E7A-32CFD2BFDE41}" type="datetime1">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76A79D-B037-4BD6-B8AD-8444F1737EAE}" type="slidenum">
              <a:rPr lang="en-US" smtClean="0"/>
              <a:t>‹#›</a:t>
            </a:fld>
            <a:endParaRPr lang="en-US"/>
          </a:p>
        </p:txBody>
      </p:sp>
    </p:spTree>
    <p:extLst>
      <p:ext uri="{BB962C8B-B14F-4D97-AF65-F5344CB8AC3E}">
        <p14:creationId xmlns:p14="http://schemas.microsoft.com/office/powerpoint/2010/main" val="1954641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ABC4AA2-621D-4A9D-9A3D-AE3ED9034AD6}" type="datetime1">
              <a:rPr lang="en-US" smtClean="0"/>
              <a:t>12/5/2025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976A79D-B037-4BD6-B8AD-8444F1737EAE}" type="slidenum">
              <a:rPr lang="en-US" smtClean="0"/>
              <a:t>‹#›</a:t>
            </a:fld>
            <a:endParaRPr lang="en-US"/>
          </a:p>
        </p:txBody>
      </p:sp>
    </p:spTree>
    <p:extLst>
      <p:ext uri="{BB962C8B-B14F-4D97-AF65-F5344CB8AC3E}">
        <p14:creationId xmlns:p14="http://schemas.microsoft.com/office/powerpoint/2010/main" val="33016470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bg2">
                <a:shade val="76000"/>
                <a:satMod val="180000"/>
              </a:schemeClr>
              <a:schemeClr val="bg2">
                <a:tint val="80000"/>
                <a:satMod val="120000"/>
                <a:lumMod val="180000"/>
              </a:schemeClr>
            </a:duotone>
            <a:lum/>
          </a:blip>
          <a:srcRect/>
          <a:stretch>
            <a:fillRect l="-10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4609-63EF-979B-F153-EED0D2C88C51}"/>
              </a:ext>
            </a:extLst>
          </p:cNvPr>
          <p:cNvSpPr>
            <a:spLocks noGrp="1"/>
          </p:cNvSpPr>
          <p:nvPr>
            <p:ph type="ctrTitle"/>
          </p:nvPr>
        </p:nvSpPr>
        <p:spPr>
          <a:xfrm>
            <a:off x="2103452" y="2248278"/>
            <a:ext cx="10175545" cy="923751"/>
          </a:xfrm>
        </p:spPr>
        <p:txBody>
          <a:bodyPr>
            <a:noAutofit/>
          </a:bodyPr>
          <a:lstStyle/>
          <a:p>
            <a:pPr algn="ctr"/>
            <a:br>
              <a:rPr lang="en-US" sz="4000" b="1" dirty="0">
                <a:latin typeface="Calibri" panose="020F0502020204030204" pitchFamily="34" charset="0"/>
                <a:ea typeface="Calibri" panose="020F0502020204030204" pitchFamily="34" charset="0"/>
                <a:cs typeface="Calibri" panose="020F0502020204030204" pitchFamily="34" charset="0"/>
              </a:rPr>
            </a:br>
            <a:br>
              <a:rPr lang="en-US" sz="4000" b="1" dirty="0">
                <a:latin typeface="Calibri" panose="020F0502020204030204" pitchFamily="34" charset="0"/>
                <a:ea typeface="Calibri" panose="020F0502020204030204" pitchFamily="34" charset="0"/>
                <a:cs typeface="Calibri" panose="020F0502020204030204" pitchFamily="34" charset="0"/>
              </a:rPr>
            </a:br>
            <a:br>
              <a:rPr lang="en-US" sz="4000" b="1" dirty="0">
                <a:latin typeface="Calibri" panose="020F0502020204030204" pitchFamily="34" charset="0"/>
                <a:ea typeface="Calibri" panose="020F0502020204030204" pitchFamily="34" charset="0"/>
                <a:cs typeface="Calibri" panose="020F0502020204030204" pitchFamily="34" charset="0"/>
              </a:rPr>
            </a:br>
            <a:br>
              <a:rPr lang="en-US" sz="4000" b="1" dirty="0">
                <a:latin typeface="Calibri" panose="020F0502020204030204" pitchFamily="34" charset="0"/>
                <a:ea typeface="Calibri" panose="020F0502020204030204" pitchFamily="34" charset="0"/>
                <a:cs typeface="Calibri" panose="020F0502020204030204" pitchFamily="34" charset="0"/>
              </a:rPr>
            </a:br>
            <a:br>
              <a:rPr lang="en-US" sz="4000" b="1" dirty="0">
                <a:latin typeface="Calibri" panose="020F0502020204030204" pitchFamily="34" charset="0"/>
                <a:ea typeface="Calibri" panose="020F0502020204030204" pitchFamily="34" charset="0"/>
                <a:cs typeface="Calibri" panose="020F0502020204030204" pitchFamily="34" charset="0"/>
              </a:rPr>
            </a:br>
            <a:r>
              <a:rPr lang="en-US" sz="4000" b="1" i="1" dirty="0">
                <a:latin typeface="Calibri" panose="020F0502020204030204" pitchFamily="34" charset="0"/>
                <a:ea typeface="Calibri" panose="020F0502020204030204" pitchFamily="34" charset="0"/>
                <a:cs typeface="Calibri" panose="020F0502020204030204" pitchFamily="34" charset="0"/>
              </a:rPr>
              <a:t>From Script to Screen</a:t>
            </a:r>
            <a:br>
              <a:rPr lang="en-US" sz="4000" b="1" i="1" dirty="0">
                <a:latin typeface="Calibri" panose="020F0502020204030204" pitchFamily="34" charset="0"/>
                <a:ea typeface="Calibri" panose="020F0502020204030204" pitchFamily="34" charset="0"/>
                <a:cs typeface="Calibri" panose="020F0502020204030204" pitchFamily="34" charset="0"/>
              </a:rPr>
            </a:br>
            <a:r>
              <a:rPr lang="en-US" sz="4000" b="1" i="1" dirty="0">
                <a:latin typeface="Calibri" panose="020F0502020204030204" pitchFamily="34" charset="0"/>
                <a:ea typeface="Calibri" panose="020F0502020204030204" pitchFamily="34" charset="0"/>
                <a:cs typeface="Calibri" panose="020F0502020204030204" pitchFamily="34" charset="0"/>
              </a:rPr>
              <a:t> Predicting Movie Success with Analytics &amp; Piracy Insights</a:t>
            </a:r>
            <a:br>
              <a:rPr lang="en-US" sz="4000" b="1" dirty="0">
                <a:latin typeface="Calibri" panose="020F0502020204030204" pitchFamily="34" charset="0"/>
                <a:ea typeface="Calibri" panose="020F0502020204030204" pitchFamily="34" charset="0"/>
                <a:cs typeface="Calibri" panose="020F0502020204030204" pitchFamily="34" charset="0"/>
              </a:rPr>
            </a:br>
            <a:br>
              <a:rPr lang="en-US" sz="4000" dirty="0">
                <a:latin typeface="Calibri" panose="020F0502020204030204" pitchFamily="34" charset="0"/>
                <a:ea typeface="Calibri" panose="020F0502020204030204" pitchFamily="34" charset="0"/>
                <a:cs typeface="Calibri" panose="020F0502020204030204" pitchFamily="34" charset="0"/>
              </a:rPr>
            </a:br>
            <a:endParaRPr lang="en-US" sz="4000" dirty="0">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22EB2F32-8078-B870-2041-FA7F08251359}"/>
              </a:ext>
            </a:extLst>
          </p:cNvPr>
          <p:cNvSpPr>
            <a:spLocks noGrp="1"/>
          </p:cNvSpPr>
          <p:nvPr>
            <p:ph type="subTitle" idx="1"/>
          </p:nvPr>
        </p:nvSpPr>
        <p:spPr>
          <a:xfrm>
            <a:off x="3697403" y="1960412"/>
            <a:ext cx="6987645" cy="575733"/>
          </a:xfrm>
        </p:spPr>
        <p:txBody>
          <a:bodyPr>
            <a:normAutofit/>
          </a:bodyPr>
          <a:lstStyle/>
          <a:p>
            <a:pPr algn="ctr"/>
            <a:r>
              <a:rPr lang="en-US" sz="2800" i="1" dirty="0">
                <a:latin typeface="Calibri" panose="020F0502020204030204" pitchFamily="34" charset="0"/>
                <a:ea typeface="Calibri" panose="020F0502020204030204" pitchFamily="34" charset="0"/>
                <a:cs typeface="Calibri" panose="020F0502020204030204" pitchFamily="34" charset="0"/>
              </a:rPr>
              <a:t>(Power BI + NLP + Piracy Analytics)</a:t>
            </a:r>
            <a:endParaRPr lang="en-US" sz="2800" dirty="0"/>
          </a:p>
        </p:txBody>
      </p:sp>
      <p:sp>
        <p:nvSpPr>
          <p:cNvPr id="4" name="TextBox 3">
            <a:extLst>
              <a:ext uri="{FF2B5EF4-FFF2-40B4-BE49-F238E27FC236}">
                <a16:creationId xmlns:a16="http://schemas.microsoft.com/office/drawing/2014/main" id="{9860BCD9-495C-8455-A6E2-5D82FCC61FFF}"/>
              </a:ext>
            </a:extLst>
          </p:cNvPr>
          <p:cNvSpPr txBox="1"/>
          <p:nvPr/>
        </p:nvSpPr>
        <p:spPr>
          <a:xfrm>
            <a:off x="3289104" y="2830647"/>
            <a:ext cx="7804245" cy="3699474"/>
          </a:xfrm>
          <a:prstGeom prst="rect">
            <a:avLst/>
          </a:prstGeom>
          <a:noFill/>
        </p:spPr>
        <p:txBody>
          <a:bodyPr wrap="square" rtlCol="0">
            <a:spAutoFit/>
          </a:bodyPr>
          <a:lstStyle/>
          <a:p>
            <a:pPr algn="ctr">
              <a:lnSpc>
                <a:spcPct val="200000"/>
              </a:lnSpc>
            </a:pPr>
            <a:r>
              <a:rPr lang="en-US" sz="2000" b="1" i="1" dirty="0">
                <a:latin typeface="Calibri" panose="020F0502020204030204" pitchFamily="34" charset="0"/>
                <a:ea typeface="Calibri" panose="020F0502020204030204" pitchFamily="34" charset="0"/>
                <a:cs typeface="Calibri" panose="020F0502020204030204" pitchFamily="34" charset="0"/>
              </a:rPr>
              <a:t>MSBA 286: Capstone Project - II</a:t>
            </a:r>
            <a:br>
              <a:rPr lang="en-US" sz="2000" i="1" dirty="0">
                <a:latin typeface="Calibri" panose="020F0502020204030204" pitchFamily="34" charset="0"/>
                <a:ea typeface="Calibri" panose="020F0502020204030204" pitchFamily="34" charset="0"/>
                <a:cs typeface="Calibri" panose="020F0502020204030204" pitchFamily="34" charset="0"/>
              </a:rPr>
            </a:br>
            <a:r>
              <a:rPr lang="en-US" sz="2000" b="1" i="1" dirty="0">
                <a:latin typeface="Calibri" panose="020F0502020204030204" pitchFamily="34" charset="0"/>
                <a:ea typeface="Calibri" panose="020F0502020204030204" pitchFamily="34" charset="0"/>
                <a:cs typeface="Calibri" panose="020F0502020204030204" pitchFamily="34" charset="0"/>
              </a:rPr>
              <a:t>Research by: Madhukar Goli </a:t>
            </a:r>
          </a:p>
          <a:p>
            <a:pPr algn="ctr">
              <a:lnSpc>
                <a:spcPct val="200000"/>
              </a:lnSpc>
            </a:pPr>
            <a:r>
              <a:rPr lang="en-US" sz="2000" b="1" i="1" dirty="0">
                <a:latin typeface="Calibri" panose="020F0502020204030204" pitchFamily="34" charset="0"/>
                <a:ea typeface="Calibri" panose="020F0502020204030204" pitchFamily="34" charset="0"/>
                <a:cs typeface="Calibri" panose="020F0502020204030204" pitchFamily="34" charset="0"/>
              </a:rPr>
              <a:t>Eberhardt School of Business</a:t>
            </a:r>
            <a:br>
              <a:rPr lang="en-US" sz="2000" i="1" dirty="0">
                <a:latin typeface="Calibri" panose="020F0502020204030204" pitchFamily="34" charset="0"/>
                <a:ea typeface="Calibri" panose="020F0502020204030204" pitchFamily="34" charset="0"/>
                <a:cs typeface="Calibri" panose="020F0502020204030204" pitchFamily="34" charset="0"/>
              </a:rPr>
            </a:br>
            <a:r>
              <a:rPr lang="en-US" sz="2000" b="1" i="1" dirty="0">
                <a:latin typeface="Calibri" panose="020F0502020204030204" pitchFamily="34" charset="0"/>
                <a:ea typeface="Calibri" panose="020F0502020204030204" pitchFamily="34" charset="0"/>
                <a:cs typeface="Calibri" panose="020F0502020204030204" pitchFamily="34" charset="0"/>
              </a:rPr>
              <a:t>University of the Pacific</a:t>
            </a:r>
          </a:p>
          <a:p>
            <a:pPr algn="ctr">
              <a:lnSpc>
                <a:spcPct val="200000"/>
              </a:lnSpc>
            </a:pPr>
            <a:r>
              <a:rPr lang="en-US" sz="2000" b="1" i="1" dirty="0">
                <a:latin typeface="Calibri" panose="020F0502020204030204" pitchFamily="34" charset="0"/>
                <a:ea typeface="Calibri" panose="020F0502020204030204" pitchFamily="34" charset="0"/>
                <a:cs typeface="Calibri" panose="020F0502020204030204" pitchFamily="34" charset="0"/>
              </a:rPr>
              <a:t>Stockton, California.</a:t>
            </a:r>
          </a:p>
          <a:p>
            <a:pPr algn="ctr">
              <a:lnSpc>
                <a:spcPct val="200000"/>
              </a:lnSpc>
            </a:pPr>
            <a:r>
              <a:rPr lang="en-US" sz="2000" i="1" dirty="0">
                <a:latin typeface="Calibri" panose="020F0502020204030204" pitchFamily="34" charset="0"/>
                <a:ea typeface="Calibri" panose="020F0502020204030204" pitchFamily="34" charset="0"/>
                <a:cs typeface="Calibri" panose="020F0502020204030204" pitchFamily="34" charset="0"/>
              </a:rPr>
              <a:t> </a:t>
            </a:r>
            <a:r>
              <a:rPr lang="en-US" sz="2000" b="1" i="1" dirty="0">
                <a:latin typeface="Calibri" panose="020F0502020204030204" pitchFamily="34" charset="0"/>
                <a:ea typeface="Calibri" panose="020F0502020204030204" pitchFamily="34" charset="0"/>
                <a:cs typeface="Calibri" panose="020F0502020204030204" pitchFamily="34" charset="0"/>
              </a:rPr>
              <a:t>Xun (Peter) Xu Ph.D.</a:t>
            </a:r>
            <a:endParaRPr lang="en-US" sz="2000" dirty="0"/>
          </a:p>
        </p:txBody>
      </p:sp>
      <p:sp>
        <p:nvSpPr>
          <p:cNvPr id="5" name="TextBox 4"/>
          <p:cNvSpPr txBox="1"/>
          <p:nvPr/>
        </p:nvSpPr>
        <p:spPr>
          <a:xfrm>
            <a:off x="0" y="6519446"/>
            <a:ext cx="12192000" cy="338554"/>
          </a:xfrm>
          <a:prstGeom prst="rect">
            <a:avLst/>
          </a:prstGeom>
          <a:noFill/>
        </p:spPr>
        <p:txBody>
          <a:bodyPr wrap="square">
            <a:spAutoFit/>
          </a:bodyPr>
          <a:lstStyle/>
          <a:p>
            <a:pPr algn="ct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Title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Intro   ○ Goals   ○ Dataset   ○ Data Model   ○ Summary   ○ Genre Ratings   ○ Budget vs Downloads   ○ Avg Budget – Genre   ○ Avg Budget – Industry   ○ Genre Families   ○ Top Revenue   ○ Genre Piracy   ○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781542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3887F-6438-051D-2E8F-A82B35936614}"/>
              </a:ext>
            </a:extLst>
          </p:cNvPr>
          <p:cNvSpPr>
            <a:spLocks noGrp="1"/>
          </p:cNvSpPr>
          <p:nvPr>
            <p:ph type="title"/>
          </p:nvPr>
        </p:nvSpPr>
        <p:spPr>
          <a:xfrm>
            <a:off x="1301830" y="-293996"/>
            <a:ext cx="10697570" cy="1752599"/>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From Script to Screen: Predicting Movie Success with Analytics &amp; Piracy Insights</a:t>
            </a:r>
          </a:p>
        </p:txBody>
      </p:sp>
      <p:sp>
        <p:nvSpPr>
          <p:cNvPr id="3" name="Content Placeholder 2">
            <a:extLst>
              <a:ext uri="{FF2B5EF4-FFF2-40B4-BE49-F238E27FC236}">
                <a16:creationId xmlns:a16="http://schemas.microsoft.com/office/drawing/2014/main" id="{D82757CC-1B22-7C1F-3D18-10F703EFA934}"/>
              </a:ext>
            </a:extLst>
          </p:cNvPr>
          <p:cNvSpPr>
            <a:spLocks noGrp="1"/>
          </p:cNvSpPr>
          <p:nvPr>
            <p:ph idx="1"/>
          </p:nvPr>
        </p:nvSpPr>
        <p:spPr>
          <a:xfrm>
            <a:off x="1301831" y="1866899"/>
            <a:ext cx="10796910" cy="3124201"/>
          </a:xfrm>
        </p:spPr>
        <p:txBody>
          <a:bodyPr>
            <a:normAutofit/>
          </a:bodyPr>
          <a:lstStyle/>
          <a:p>
            <a:pPr marL="0" indent="0">
              <a:lnSpc>
                <a:spcPct val="200000"/>
              </a:lnSpc>
              <a:buNone/>
            </a:pPr>
            <a:r>
              <a:rPr lang="en-US" i="1" dirty="0">
                <a:latin typeface="Calibri" panose="020F0502020204030204" pitchFamily="34" charset="0"/>
                <a:ea typeface="Calibri" panose="020F0502020204030204" pitchFamily="34" charset="0"/>
                <a:cs typeface="Calibri" panose="020F0502020204030204" pitchFamily="34" charset="0"/>
              </a:rPr>
              <a:t>“ A data-driven journey across the movie ecosystem — from production budgets and audience ratings to storyline patterns and piracy behavior. Using Power BI, NLP, and Piracy dataset Insights, this analysis uncovers what truly drives movie success in the modern digital landscape. ”</a:t>
            </a:r>
          </a:p>
        </p:txBody>
      </p:sp>
      <p:sp>
        <p:nvSpPr>
          <p:cNvPr id="4" name="Slide Number Placeholder 3">
            <a:extLst>
              <a:ext uri="{FF2B5EF4-FFF2-40B4-BE49-F238E27FC236}">
                <a16:creationId xmlns:a16="http://schemas.microsoft.com/office/drawing/2014/main" id="{16E0D713-0D67-0874-9E7B-306082335F2B}"/>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2</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p:cNvSpPr txBox="1"/>
          <p:nvPr/>
        </p:nvSpPr>
        <p:spPr>
          <a:xfrm>
            <a:off x="0" y="6412085"/>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Intro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Goals   ○ Dataset   ○ Data Model   ○ Summary   ○ Genre Ratings   ○ Budget vs Downloads   ○ Avg Budget – Genre   ○ Avg Budget – Industry   ○ Genre Families   ○ Top Revenue   ○ Genre Piracy   ○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1835579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9B102-D79D-91D9-6C41-A3A7A0B92ED1}"/>
              </a:ext>
            </a:extLst>
          </p:cNvPr>
          <p:cNvSpPr>
            <a:spLocks noGrp="1"/>
          </p:cNvSpPr>
          <p:nvPr>
            <p:ph type="title"/>
          </p:nvPr>
        </p:nvSpPr>
        <p:spPr>
          <a:xfrm>
            <a:off x="803056" y="-143604"/>
            <a:ext cx="11468669" cy="696036"/>
          </a:xfrm>
        </p:spPr>
        <p:txBody>
          <a:bodyPr>
            <a:normAutofit fontScale="90000"/>
          </a:bodyPr>
          <a:lstStyle/>
          <a:p>
            <a:r>
              <a:rPr lang="en-US" sz="4400" b="1" i="1" dirty="0">
                <a:latin typeface="Calibri" panose="020F0502020204030204" pitchFamily="34" charset="0"/>
                <a:ea typeface="Calibri" panose="020F0502020204030204" pitchFamily="34" charset="0"/>
                <a:cs typeface="Calibri" panose="020F0502020204030204" pitchFamily="34" charset="0"/>
              </a:rPr>
              <a:t>INTRODUCTION &amp; PROJECT GOALS</a:t>
            </a:r>
          </a:p>
        </p:txBody>
      </p:sp>
      <p:sp>
        <p:nvSpPr>
          <p:cNvPr id="4" name="TextBox 3">
            <a:extLst>
              <a:ext uri="{FF2B5EF4-FFF2-40B4-BE49-F238E27FC236}">
                <a16:creationId xmlns:a16="http://schemas.microsoft.com/office/drawing/2014/main" id="{83E129A4-B788-AF73-B46F-9D3281412BE2}"/>
              </a:ext>
            </a:extLst>
          </p:cNvPr>
          <p:cNvSpPr txBox="1"/>
          <p:nvPr/>
        </p:nvSpPr>
        <p:spPr>
          <a:xfrm>
            <a:off x="1484308" y="621827"/>
            <a:ext cx="10106167"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b="1" i="1" dirty="0">
                <a:solidFill>
                  <a:srgbClr val="1C6294"/>
                </a:solidFill>
                <a:latin typeface="Calibri" panose="020F0502020204030204" pitchFamily="34" charset="0"/>
                <a:ea typeface="Calibri" panose="020F0502020204030204" pitchFamily="34" charset="0"/>
                <a:cs typeface="Calibri" panose="020F0502020204030204" pitchFamily="34" charset="0"/>
              </a:rPr>
              <a:t>Why Analyze Movies Using Both Metadata and Piracy Signals?</a:t>
            </a:r>
          </a:p>
        </p:txBody>
      </p:sp>
      <p:sp>
        <p:nvSpPr>
          <p:cNvPr id="7" name="TextBox 6">
            <a:extLst>
              <a:ext uri="{FF2B5EF4-FFF2-40B4-BE49-F238E27FC236}">
                <a16:creationId xmlns:a16="http://schemas.microsoft.com/office/drawing/2014/main" id="{677624F8-F1A2-E6F0-4763-25FBDD678A3D}"/>
              </a:ext>
            </a:extLst>
          </p:cNvPr>
          <p:cNvSpPr txBox="1"/>
          <p:nvPr/>
        </p:nvSpPr>
        <p:spPr>
          <a:xfrm>
            <a:off x="1386500" y="4958900"/>
            <a:ext cx="10301785" cy="1015663"/>
          </a:xfrm>
          <a:prstGeom prst="rect">
            <a:avLst/>
          </a:prstGeom>
          <a:noFill/>
        </p:spPr>
        <p:txBody>
          <a:bodyPr wrap="square" rtlCol="0">
            <a:spAutoFit/>
          </a:bodyPr>
          <a:lstStyle/>
          <a:p>
            <a:pPr marL="285750" indent="-285750">
              <a:buFont typeface="Wingdings" panose="05000000000000000000" pitchFamily="2" charset="2"/>
              <a:buChar char="Ø"/>
            </a:pPr>
            <a:r>
              <a:rPr lang="en-US" sz="2000" b="1" i="1" dirty="0">
                <a:solidFill>
                  <a:srgbClr val="1C6294"/>
                </a:solidFill>
                <a:latin typeface="Calibri" panose="020F0502020204030204" pitchFamily="34" charset="0"/>
                <a:ea typeface="Calibri" panose="020F0502020204030204" pitchFamily="34" charset="0"/>
                <a:cs typeface="Calibri" panose="020F0502020204030204" pitchFamily="34" charset="0"/>
              </a:rPr>
              <a:t>The film industry generates massive data — budgets, revenues, ratings, genres, and storyline content. But success today is influenced not only by box-office metrics, but also by an often-overlooked component: piracy downloads.</a:t>
            </a:r>
            <a:endParaRPr lang="en-US" sz="2000" b="1" dirty="0">
              <a:solidFill>
                <a:srgbClr val="1C6294"/>
              </a:solidFill>
            </a:endParaRPr>
          </a:p>
        </p:txBody>
      </p:sp>
      <p:sp>
        <p:nvSpPr>
          <p:cNvPr id="8" name="Rectangle 1">
            <a:extLst>
              <a:ext uri="{FF2B5EF4-FFF2-40B4-BE49-F238E27FC236}">
                <a16:creationId xmlns:a16="http://schemas.microsoft.com/office/drawing/2014/main" id="{55B48B62-1C6D-590C-3D7B-44BFE5A268FB}"/>
              </a:ext>
            </a:extLst>
          </p:cNvPr>
          <p:cNvSpPr>
            <a:spLocks noGrp="1" noChangeArrowheads="1"/>
          </p:cNvSpPr>
          <p:nvPr>
            <p:ph idx="1"/>
          </p:nvPr>
        </p:nvSpPr>
        <p:spPr bwMode="auto">
          <a:xfrm>
            <a:off x="1494791" y="1854489"/>
            <a:ext cx="8665834" cy="294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Rising budgets + unpredictable audience behavior</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Piracy downloads distort true market performance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Studios struggle to forecast success early</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Goal: Combine metadata + piracy + NLP to reveal hidden patterns</a:t>
            </a:r>
          </a:p>
        </p:txBody>
      </p:sp>
      <p:sp>
        <p:nvSpPr>
          <p:cNvPr id="9" name="TextBox 8">
            <a:extLst>
              <a:ext uri="{FF2B5EF4-FFF2-40B4-BE49-F238E27FC236}">
                <a16:creationId xmlns:a16="http://schemas.microsoft.com/office/drawing/2014/main" id="{1EBABCAF-689E-3A58-9174-02D0768321BC}"/>
              </a:ext>
            </a:extLst>
          </p:cNvPr>
          <p:cNvSpPr txBox="1"/>
          <p:nvPr/>
        </p:nvSpPr>
        <p:spPr>
          <a:xfrm>
            <a:off x="1484308" y="1238158"/>
            <a:ext cx="8686800" cy="523220"/>
          </a:xfrm>
          <a:prstGeom prst="rect">
            <a:avLst/>
          </a:prstGeom>
          <a:noFill/>
        </p:spPr>
        <p:txBody>
          <a:bodyPr wrap="square" rtlCol="0">
            <a:spAutoFit/>
          </a:bodyPr>
          <a:lstStyle/>
          <a:p>
            <a:pPr marL="285750" indent="-285750">
              <a:buFont typeface="Wingdings" panose="05000000000000000000" pitchFamily="2" charset="2"/>
              <a:buChar char="Ø"/>
            </a:pPr>
            <a:r>
              <a:rPr lang="en-US" sz="2800" b="1" i="1" dirty="0">
                <a:solidFill>
                  <a:srgbClr val="1C6294"/>
                </a:solidFill>
                <a:latin typeface="Calibri" panose="020F0502020204030204" pitchFamily="34" charset="0"/>
                <a:ea typeface="Calibri" panose="020F0502020204030204" pitchFamily="34" charset="0"/>
                <a:cs typeface="Calibri" panose="020F0502020204030204" pitchFamily="34" charset="0"/>
              </a:rPr>
              <a:t>Why Movie Performance Prediction Matters ?</a:t>
            </a:r>
          </a:p>
        </p:txBody>
      </p:sp>
      <p:sp>
        <p:nvSpPr>
          <p:cNvPr id="3" name="Slide Number Placeholder 2">
            <a:extLst>
              <a:ext uri="{FF2B5EF4-FFF2-40B4-BE49-F238E27FC236}">
                <a16:creationId xmlns:a16="http://schemas.microsoft.com/office/drawing/2014/main" id="{B7DC328C-FC81-C719-1BF4-AD05DD364F24}"/>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3</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p:cNvSpPr txBox="1"/>
          <p:nvPr/>
        </p:nvSpPr>
        <p:spPr>
          <a:xfrm>
            <a:off x="0" y="6432418"/>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Goals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Dataset   ○ Data Model   ○ Summary   ○ Genre Ratings   ○ Budget vs Downloads   ○ Avg Budget – Genre   ○ Avg Budget – Industry   ○ Genre Families   ○ Top Revenue   ○ Genre Piracy   ○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64175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FD0E5-FB66-0EF5-6BB0-B8A1884EB8F5}"/>
              </a:ext>
            </a:extLst>
          </p:cNvPr>
          <p:cNvSpPr>
            <a:spLocks noGrp="1"/>
          </p:cNvSpPr>
          <p:nvPr>
            <p:ph type="title"/>
          </p:nvPr>
        </p:nvSpPr>
        <p:spPr>
          <a:xfrm>
            <a:off x="894965" y="-156949"/>
            <a:ext cx="11407254" cy="801806"/>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DATASET OVERVIEW</a:t>
            </a:r>
          </a:p>
        </p:txBody>
      </p:sp>
      <p:sp>
        <p:nvSpPr>
          <p:cNvPr id="3" name="Content Placeholder 2">
            <a:extLst>
              <a:ext uri="{FF2B5EF4-FFF2-40B4-BE49-F238E27FC236}">
                <a16:creationId xmlns:a16="http://schemas.microsoft.com/office/drawing/2014/main" id="{E49E9A6E-5FEC-37E4-BB7D-0481B25C5EF4}"/>
              </a:ext>
            </a:extLst>
          </p:cNvPr>
          <p:cNvSpPr>
            <a:spLocks noGrp="1"/>
          </p:cNvSpPr>
          <p:nvPr>
            <p:ph idx="1"/>
          </p:nvPr>
        </p:nvSpPr>
        <p:spPr>
          <a:xfrm>
            <a:off x="1589236" y="1469515"/>
            <a:ext cx="10018713" cy="3807723"/>
          </a:xfrm>
        </p:spPr>
        <p:txBody>
          <a:bodyPr>
            <a:noAutofit/>
          </a:bodyPr>
          <a:lstStyle/>
          <a:p>
            <a:pPr>
              <a:lnSpc>
                <a:spcPct val="150000"/>
              </a:lnSpc>
              <a:buClr>
                <a:srgbClr val="1C6294"/>
              </a:buClr>
              <a:buFont typeface="Wingdings" panose="05000000000000000000" pitchFamily="2" charset="2"/>
              <a:buChar char="Ø"/>
            </a:pPr>
            <a:r>
              <a:rPr lang="en-US" b="1" i="1" dirty="0">
                <a:solidFill>
                  <a:srgbClr val="1C6294"/>
                </a:solidFill>
                <a:latin typeface="Calibri" panose="020F0502020204030204" pitchFamily="34" charset="0"/>
                <a:ea typeface="Calibri" panose="020F0502020204030204" pitchFamily="34" charset="0"/>
                <a:cs typeface="Calibri" panose="020F0502020204030204" pitchFamily="34" charset="0"/>
              </a:rPr>
              <a:t>Datasets Integrated:</a:t>
            </a:r>
          </a:p>
          <a:p>
            <a:pPr marL="514350" indent="-514350">
              <a:lnSpc>
                <a:spcPct val="150000"/>
              </a:lnSpc>
              <a:buFont typeface="+mj-lt"/>
              <a:buAutoNum type="arabicPeriod"/>
            </a:pPr>
            <a:r>
              <a:rPr lang="en-US" b="1" i="1" dirty="0">
                <a:latin typeface="Calibri" panose="020F0502020204030204" pitchFamily="34" charset="0"/>
                <a:ea typeface="Calibri" panose="020F0502020204030204" pitchFamily="34" charset="0"/>
                <a:cs typeface="Calibri" panose="020F0502020204030204" pitchFamily="34" charset="0"/>
              </a:rPr>
              <a:t>TMDb Metadata:</a:t>
            </a:r>
            <a:r>
              <a:rPr lang="en-US" i="1" dirty="0">
                <a:latin typeface="Calibri" panose="020F0502020204030204" pitchFamily="34" charset="0"/>
                <a:ea typeface="Calibri" panose="020F0502020204030204" pitchFamily="34" charset="0"/>
                <a:cs typeface="Calibri" panose="020F0502020204030204" pitchFamily="34" charset="0"/>
              </a:rPr>
              <a:t> Genre, storylines, popularity, runtime, ratings</a:t>
            </a:r>
          </a:p>
          <a:p>
            <a:pPr marL="514350" indent="-514350">
              <a:lnSpc>
                <a:spcPct val="150000"/>
              </a:lnSpc>
              <a:buFont typeface="+mj-lt"/>
              <a:buAutoNum type="arabicPeriod"/>
            </a:pPr>
            <a:r>
              <a:rPr lang="en-US" b="1" i="1" dirty="0">
                <a:latin typeface="Calibri" panose="020F0502020204030204" pitchFamily="34" charset="0"/>
                <a:ea typeface="Calibri" panose="020F0502020204030204" pitchFamily="34" charset="0"/>
                <a:cs typeface="Calibri" panose="020F0502020204030204" pitchFamily="34" charset="0"/>
              </a:rPr>
              <a:t>Piracy Dataset:</a:t>
            </a:r>
            <a:r>
              <a:rPr lang="en-US" i="1" dirty="0">
                <a:latin typeface="Calibri" panose="020F0502020204030204" pitchFamily="34" charset="0"/>
                <a:ea typeface="Calibri" panose="020F0502020204030204" pitchFamily="34" charset="0"/>
                <a:cs typeface="Calibri" panose="020F0502020204030204" pitchFamily="34" charset="0"/>
              </a:rPr>
              <a:t> Number of downloads for each movie</a:t>
            </a:r>
          </a:p>
          <a:p>
            <a:pPr marL="514350" indent="-514350">
              <a:lnSpc>
                <a:spcPct val="150000"/>
              </a:lnSpc>
              <a:buFont typeface="+mj-lt"/>
              <a:buAutoNum type="arabicPeriod"/>
            </a:pPr>
            <a:r>
              <a:rPr lang="en-US" b="1" i="1" dirty="0">
                <a:latin typeface="Calibri" panose="020F0502020204030204" pitchFamily="34" charset="0"/>
                <a:ea typeface="Calibri" panose="020F0502020204030204" pitchFamily="34" charset="0"/>
                <a:cs typeface="Calibri" panose="020F0502020204030204" pitchFamily="34" charset="0"/>
              </a:rPr>
              <a:t>Keywords Dataset:</a:t>
            </a:r>
            <a:r>
              <a:rPr lang="en-US" i="1" dirty="0">
                <a:latin typeface="Calibri" panose="020F0502020204030204" pitchFamily="34" charset="0"/>
                <a:ea typeface="Calibri" panose="020F0502020204030204" pitchFamily="34" charset="0"/>
                <a:cs typeface="Calibri" panose="020F0502020204030204" pitchFamily="34" charset="0"/>
              </a:rPr>
              <a:t> 3,000+ storyline themes extracted via NLP</a:t>
            </a:r>
          </a:p>
          <a:p>
            <a:pPr marL="514350" indent="-514350">
              <a:lnSpc>
                <a:spcPct val="150000"/>
              </a:lnSpc>
              <a:buFont typeface="+mj-lt"/>
              <a:buAutoNum type="arabicPeriod"/>
            </a:pPr>
            <a:r>
              <a:rPr lang="en-US" b="1" i="1" dirty="0">
                <a:latin typeface="Calibri" panose="020F0502020204030204" pitchFamily="34" charset="0"/>
                <a:ea typeface="Calibri" panose="020F0502020204030204" pitchFamily="34" charset="0"/>
                <a:cs typeface="Calibri" panose="020F0502020204030204" pitchFamily="34" charset="0"/>
              </a:rPr>
              <a:t>Credits Dataset: </a:t>
            </a:r>
            <a:r>
              <a:rPr lang="en-US" i="1" dirty="0">
                <a:latin typeface="Calibri" panose="020F0502020204030204" pitchFamily="34" charset="0"/>
                <a:ea typeface="Calibri" panose="020F0502020204030204" pitchFamily="34" charset="0"/>
                <a:cs typeface="Calibri" panose="020F0502020204030204" pitchFamily="34" charset="0"/>
              </a:rPr>
              <a:t>5K titles + Cast &amp; Crew For additional support </a:t>
            </a:r>
          </a:p>
          <a:p>
            <a:pPr marL="514350" indent="-514350">
              <a:lnSpc>
                <a:spcPct val="150000"/>
              </a:lnSpc>
              <a:buFont typeface="+mj-lt"/>
              <a:buAutoNum type="arabicPeriod"/>
            </a:pPr>
            <a:r>
              <a:rPr lang="en-US" b="1" i="1" dirty="0">
                <a:latin typeface="Calibri" panose="020F0502020204030204" pitchFamily="34" charset="0"/>
                <a:ea typeface="Calibri" panose="020F0502020204030204" pitchFamily="34" charset="0"/>
                <a:cs typeface="Calibri" panose="020F0502020204030204" pitchFamily="34" charset="0"/>
              </a:rPr>
              <a:t>User Ratings: </a:t>
            </a:r>
            <a:r>
              <a:rPr lang="en-US" i="1" dirty="0">
                <a:latin typeface="Calibri" panose="020F0502020204030204" pitchFamily="34" charset="0"/>
                <a:ea typeface="Calibri" panose="020F0502020204030204" pitchFamily="34" charset="0"/>
                <a:cs typeface="Calibri" panose="020F0502020204030204" pitchFamily="34" charset="0"/>
              </a:rPr>
              <a:t>To cross report Metadata Ratings for empty values</a:t>
            </a:r>
          </a:p>
          <a:p>
            <a:pPr marL="0" indent="0">
              <a:lnSpc>
                <a:spcPct val="150000"/>
              </a:lnSpc>
              <a:buNone/>
            </a:pPr>
            <a:endParaRPr lang="en-US" sz="2000" b="1" i="1"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endParaRPr lang="en-US" sz="2000" i="1"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7DE3BC1-CA76-A639-D0DA-CA736B7A0732}"/>
              </a:ext>
            </a:extLst>
          </p:cNvPr>
          <p:cNvSpPr txBox="1"/>
          <p:nvPr/>
        </p:nvSpPr>
        <p:spPr>
          <a:xfrm>
            <a:off x="1491555" y="5106641"/>
            <a:ext cx="10214074" cy="707886"/>
          </a:xfrm>
          <a:prstGeom prst="rect">
            <a:avLst/>
          </a:prstGeom>
          <a:noFill/>
        </p:spPr>
        <p:txBody>
          <a:bodyPr wrap="square" rtlCol="0">
            <a:spAutoFit/>
          </a:bodyPr>
          <a:lstStyle/>
          <a:p>
            <a:pPr marL="285750" indent="-285750">
              <a:buFont typeface="Wingdings" panose="05000000000000000000" pitchFamily="2" charset="2"/>
              <a:buChar char="Ø"/>
            </a:pPr>
            <a:r>
              <a:rPr lang="en-US" sz="2000" b="1" i="1" dirty="0">
                <a:solidFill>
                  <a:srgbClr val="1C6294"/>
                </a:solidFill>
                <a:latin typeface="Calibri" panose="020F0502020204030204" pitchFamily="34" charset="0"/>
                <a:ea typeface="Calibri" panose="020F0502020204030204" pitchFamily="34" charset="0"/>
                <a:cs typeface="Calibri" panose="020F0502020204030204" pitchFamily="34" charset="0"/>
              </a:rPr>
              <a:t>This combination of structured metadata, piracy signals, and NLP-driven insights forms the foundation for uncovering patterns behind movie success.</a:t>
            </a:r>
          </a:p>
        </p:txBody>
      </p:sp>
      <p:sp>
        <p:nvSpPr>
          <p:cNvPr id="4" name="Slide Number Placeholder 3">
            <a:extLst>
              <a:ext uri="{FF2B5EF4-FFF2-40B4-BE49-F238E27FC236}">
                <a16:creationId xmlns:a16="http://schemas.microsoft.com/office/drawing/2014/main" id="{933BEFA3-0924-660F-47BB-689F571529FF}"/>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4</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p:cNvSpPr txBox="1"/>
          <p:nvPr/>
        </p:nvSpPr>
        <p:spPr>
          <a:xfrm>
            <a:off x="0" y="6336883"/>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Dataset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Data Model   ○ Summary   ○ Genre Ratings   ○ Budget vs Downloads   ○ Avg Budget – Genre   ○ Avg Budget – Industry   ○ Genre Families   ○ Top Revenue   ○ Genre Piracy   ○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2015881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28C7E-C9EC-661B-5DFD-604876FC4707}"/>
              </a:ext>
            </a:extLst>
          </p:cNvPr>
          <p:cNvSpPr>
            <a:spLocks noGrp="1"/>
          </p:cNvSpPr>
          <p:nvPr>
            <p:ph type="title"/>
          </p:nvPr>
        </p:nvSpPr>
        <p:spPr>
          <a:xfrm>
            <a:off x="919929" y="-68239"/>
            <a:ext cx="11453610" cy="1081585"/>
          </a:xfrm>
        </p:spPr>
        <p:txBody>
          <a:bodyPr>
            <a:normAutofit fontScale="90000"/>
          </a:bodyPr>
          <a:lstStyle/>
          <a:p>
            <a:r>
              <a:rPr lang="en-US" b="1" i="1" dirty="0">
                <a:latin typeface="Calibri" panose="020F0502020204030204" pitchFamily="34" charset="0"/>
                <a:ea typeface="Calibri" panose="020F0502020204030204" pitchFamily="34" charset="0"/>
                <a:cs typeface="Calibri" panose="020F0502020204030204" pitchFamily="34" charset="0"/>
              </a:rPr>
              <a:t>         POWER BI DATA MODEL:</a:t>
            </a:r>
            <a:br>
              <a:rPr lang="en-US" b="1" i="1" dirty="0">
                <a:latin typeface="Calibri" panose="020F0502020204030204" pitchFamily="34" charset="0"/>
                <a:ea typeface="Calibri" panose="020F0502020204030204" pitchFamily="34" charset="0"/>
                <a:cs typeface="Calibri" panose="020F0502020204030204" pitchFamily="34" charset="0"/>
              </a:rPr>
            </a:br>
            <a:r>
              <a:rPr lang="en-US" b="1" i="1" dirty="0">
                <a:latin typeface="Calibri" panose="020F0502020204030204" pitchFamily="34" charset="0"/>
                <a:ea typeface="Calibri" panose="020F0502020204030204" pitchFamily="34" charset="0"/>
                <a:cs typeface="Calibri" panose="020F0502020204030204" pitchFamily="34" charset="0"/>
              </a:rPr>
              <a:t>           Relationships across metadata → piracy behavior</a:t>
            </a:r>
          </a:p>
        </p:txBody>
      </p:sp>
      <p:pic>
        <p:nvPicPr>
          <p:cNvPr id="6" name="Content Placeholder 5">
            <a:extLst>
              <a:ext uri="{FF2B5EF4-FFF2-40B4-BE49-F238E27FC236}">
                <a16:creationId xmlns:a16="http://schemas.microsoft.com/office/drawing/2014/main" id="{7AE672B9-2E9D-87D0-9407-D7C4AA635734}"/>
              </a:ext>
            </a:extLst>
          </p:cNvPr>
          <p:cNvPicPr>
            <a:picLocks noGrp="1" noChangeAspect="1"/>
          </p:cNvPicPr>
          <p:nvPr>
            <p:ph idx="1"/>
          </p:nvPr>
        </p:nvPicPr>
        <p:blipFill>
          <a:blip r:embed="rId2"/>
          <a:stretch>
            <a:fillRect/>
          </a:stretch>
        </p:blipFill>
        <p:spPr>
          <a:xfrm>
            <a:off x="1736520" y="1013346"/>
            <a:ext cx="10306795" cy="5133551"/>
          </a:xfrm>
          <a:prstGeom prst="rect">
            <a:avLst/>
          </a:prstGeom>
        </p:spPr>
      </p:pic>
      <p:sp>
        <p:nvSpPr>
          <p:cNvPr id="3" name="Slide Number Placeholder 2">
            <a:extLst>
              <a:ext uri="{FF2B5EF4-FFF2-40B4-BE49-F238E27FC236}">
                <a16:creationId xmlns:a16="http://schemas.microsoft.com/office/drawing/2014/main" id="{660F2B5C-1B01-9FE5-A51B-B78405BF91B5}"/>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5</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0" y="6391474"/>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Data Model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Summary   ○ Genre Ratings   ○ Budget vs Downloads   ○ Avg Budget – Genre   ○ Avg Budget – Industry   ○ Genre Families   ○ Top Revenue   ○ Genre Piracy   ○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1993000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07C1-F347-02D9-343E-E1FB7A6743E5}"/>
              </a:ext>
            </a:extLst>
          </p:cNvPr>
          <p:cNvSpPr>
            <a:spLocks noGrp="1"/>
          </p:cNvSpPr>
          <p:nvPr>
            <p:ph type="title"/>
          </p:nvPr>
        </p:nvSpPr>
        <p:spPr>
          <a:xfrm>
            <a:off x="952871" y="-159779"/>
            <a:ext cx="11407254" cy="788158"/>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TOTAL DATASET SUMMARY DASHBOARD</a:t>
            </a:r>
          </a:p>
        </p:txBody>
      </p:sp>
      <p:sp>
        <p:nvSpPr>
          <p:cNvPr id="3" name="Content Placeholder 2">
            <a:extLst>
              <a:ext uri="{FF2B5EF4-FFF2-40B4-BE49-F238E27FC236}">
                <a16:creationId xmlns:a16="http://schemas.microsoft.com/office/drawing/2014/main" id="{110CD8F3-5FE3-756F-75D4-F435B496C12C}"/>
              </a:ext>
            </a:extLst>
          </p:cNvPr>
          <p:cNvSpPr>
            <a:spLocks noGrp="1"/>
          </p:cNvSpPr>
          <p:nvPr>
            <p:ph idx="1"/>
          </p:nvPr>
        </p:nvSpPr>
        <p:spPr>
          <a:xfrm>
            <a:off x="1433335" y="1364835"/>
            <a:ext cx="9648647" cy="416256"/>
          </a:xfrm>
        </p:spPr>
        <p:txBody>
          <a:bodyPr>
            <a:noAutofit/>
          </a:bodyPr>
          <a:lstStyle/>
          <a:p>
            <a:pPr>
              <a:buClr>
                <a:srgbClr val="1C6294"/>
              </a:buClr>
              <a:buFont typeface="Wingdings" panose="05000000000000000000" pitchFamily="2" charset="2"/>
              <a:buChar char="Ø"/>
            </a:pPr>
            <a:r>
              <a:rPr lang="en-US" sz="2800" b="1" i="1" dirty="0">
                <a:solidFill>
                  <a:srgbClr val="1C6294"/>
                </a:solidFill>
                <a:latin typeface="Calibri" panose="020F0502020204030204" pitchFamily="34" charset="0"/>
                <a:ea typeface="Calibri" panose="020F0502020204030204" pitchFamily="34" charset="0"/>
                <a:cs typeface="Calibri" panose="020F0502020204030204" pitchFamily="34" charset="0"/>
              </a:rPr>
              <a:t>This dashboard gives us the big picture:</a:t>
            </a:r>
          </a:p>
          <a:p>
            <a:pPr marL="0" indent="0">
              <a:buNone/>
            </a:pPr>
            <a:endParaRPr lang="en-US" sz="2800" b="1" dirty="0">
              <a:solidFill>
                <a:srgbClr val="1C6294"/>
              </a:solidFill>
              <a:latin typeface="Calibri" panose="020F0502020204030204" pitchFamily="34" charset="0"/>
              <a:ea typeface="Calibri" panose="020F0502020204030204" pitchFamily="34" charset="0"/>
              <a:cs typeface="Calibri" panose="020F0502020204030204" pitchFamily="34" charset="0"/>
            </a:endParaRPr>
          </a:p>
          <a:p>
            <a:endParaRPr lang="en-US" sz="2800" b="1" dirty="0">
              <a:solidFill>
                <a:srgbClr val="1C6294"/>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992F6C27-AE1E-0924-577B-B7B66D4A14B7}"/>
              </a:ext>
            </a:extLst>
          </p:cNvPr>
          <p:cNvPicPr>
            <a:picLocks noChangeAspect="1"/>
          </p:cNvPicPr>
          <p:nvPr/>
        </p:nvPicPr>
        <p:blipFill>
          <a:blip r:embed="rId2"/>
          <a:srcRect l="564" t="1777" r="-564" b="-1777"/>
          <a:stretch>
            <a:fillRect/>
          </a:stretch>
        </p:blipFill>
        <p:spPr>
          <a:xfrm>
            <a:off x="1433335" y="1708937"/>
            <a:ext cx="10703746" cy="2492599"/>
          </a:xfrm>
          <a:prstGeom prst="rect">
            <a:avLst/>
          </a:prstGeom>
        </p:spPr>
      </p:pic>
      <p:sp>
        <p:nvSpPr>
          <p:cNvPr id="12" name="TextBox 11">
            <a:extLst>
              <a:ext uri="{FF2B5EF4-FFF2-40B4-BE49-F238E27FC236}">
                <a16:creationId xmlns:a16="http://schemas.microsoft.com/office/drawing/2014/main" id="{2FB6CD30-77CC-A65D-C8F4-174DD4C907FE}"/>
              </a:ext>
            </a:extLst>
          </p:cNvPr>
          <p:cNvSpPr txBox="1"/>
          <p:nvPr/>
        </p:nvSpPr>
        <p:spPr>
          <a:xfrm>
            <a:off x="1545726" y="4221712"/>
            <a:ext cx="2866030" cy="1429622"/>
          </a:xfrm>
          <a:prstGeom prst="rect">
            <a:avLst/>
          </a:prstGeom>
          <a:noFill/>
        </p:spPr>
        <p:txBody>
          <a:bodyPr wrap="square">
            <a:spAutoFit/>
          </a:bodyPr>
          <a:lstStyle/>
          <a:p>
            <a:pPr marL="342900" indent="-342900" defTabSz="914400" eaLnBrk="0" fontAlgn="base" hangingPunct="0">
              <a:lnSpc>
                <a:spcPct val="150000"/>
              </a:lnSpc>
              <a:spcBef>
                <a:spcPct val="0"/>
              </a:spcBef>
              <a:spcAft>
                <a:spcPct val="0"/>
              </a:spcAft>
              <a:buFont typeface="Wingdings" panose="05000000000000000000" pitchFamily="2" charset="2"/>
              <a:buChar char="Ø"/>
            </a:pPr>
            <a:r>
              <a:rPr kumimoji="0" lang="en-US" altLang="en-US" sz="20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Total movies analyzed</a:t>
            </a:r>
            <a:endParaRPr lang="en-US" altLang="en-US" sz="2000" i="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0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tabLst/>
            </a:pPr>
            <a:endParaRPr kumimoji="0" lang="en-US" altLang="en-US" sz="20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16EDCCD4-D2F0-69CE-43A3-52B62DA0535D}"/>
              </a:ext>
            </a:extLst>
          </p:cNvPr>
          <p:cNvSpPr txBox="1"/>
          <p:nvPr/>
        </p:nvSpPr>
        <p:spPr>
          <a:xfrm>
            <a:off x="1545726" y="5181370"/>
            <a:ext cx="10221545" cy="707886"/>
          </a:xfrm>
          <a:prstGeom prst="rect">
            <a:avLst/>
          </a:prstGeom>
          <a:noFill/>
        </p:spPr>
        <p:txBody>
          <a:bodyPr wrap="square" rtlCol="0">
            <a:spAutoFit/>
          </a:bodyPr>
          <a:lstStyle/>
          <a:p>
            <a:pPr marL="285750" indent="-285750">
              <a:buFont typeface="Wingdings" panose="05000000000000000000" pitchFamily="2" charset="2"/>
              <a:buChar char="Ø"/>
            </a:pPr>
            <a:r>
              <a:rPr lang="en-US" sz="2000" b="1" i="1" dirty="0">
                <a:solidFill>
                  <a:srgbClr val="1C6294"/>
                </a:solidFill>
                <a:latin typeface="Calibri" panose="020F0502020204030204" pitchFamily="34" charset="0"/>
                <a:ea typeface="Calibri" panose="020F0502020204030204" pitchFamily="34" charset="0"/>
                <a:cs typeface="Calibri" panose="020F0502020204030204" pitchFamily="34" charset="0"/>
              </a:rPr>
              <a:t>This establishes the Size and Scale of the Datasets that were contributing for this Analysis.</a:t>
            </a:r>
            <a:endParaRPr lang="en-US" altLang="en-US" sz="2000" b="1" i="1" dirty="0">
              <a:solidFill>
                <a:srgbClr val="1C6294"/>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endParaRPr lang="en-US" sz="2000" b="1" i="1" dirty="0">
              <a:solidFill>
                <a:srgbClr val="1C6294"/>
              </a:solidFill>
            </a:endParaRPr>
          </a:p>
        </p:txBody>
      </p:sp>
      <p:sp>
        <p:nvSpPr>
          <p:cNvPr id="14" name="TextBox 13">
            <a:extLst>
              <a:ext uri="{FF2B5EF4-FFF2-40B4-BE49-F238E27FC236}">
                <a16:creationId xmlns:a16="http://schemas.microsoft.com/office/drawing/2014/main" id="{4A9B072E-EA6E-25F6-ED1D-DBA66836A13E}"/>
              </a:ext>
            </a:extLst>
          </p:cNvPr>
          <p:cNvSpPr txBox="1"/>
          <p:nvPr/>
        </p:nvSpPr>
        <p:spPr>
          <a:xfrm>
            <a:off x="5144065" y="4367294"/>
            <a:ext cx="3282287" cy="400110"/>
          </a:xfrm>
          <a:prstGeom prst="rect">
            <a:avLst/>
          </a:prstGeom>
          <a:noFill/>
        </p:spPr>
        <p:txBody>
          <a:bodyPr wrap="square" rtlCol="0">
            <a:spAutoFit/>
          </a:bodyPr>
          <a:lstStyle/>
          <a:p>
            <a:pPr marL="285750" indent="-285750">
              <a:buFont typeface="Wingdings" panose="05000000000000000000" pitchFamily="2" charset="2"/>
              <a:buChar char="Ø"/>
            </a:pPr>
            <a:r>
              <a:rPr lang="en-US" altLang="en-US" sz="2000" i="1" dirty="0">
                <a:latin typeface="Calibri" panose="020F0502020204030204" pitchFamily="34" charset="0"/>
                <a:ea typeface="Calibri" panose="020F0502020204030204" pitchFamily="34" charset="0"/>
                <a:cs typeface="Calibri" panose="020F0502020204030204" pitchFamily="34" charset="0"/>
              </a:rPr>
              <a:t>Total piracy downloads</a:t>
            </a:r>
            <a:endParaRPr lang="en-US" sz="2000" dirty="0"/>
          </a:p>
        </p:txBody>
      </p:sp>
      <p:sp>
        <p:nvSpPr>
          <p:cNvPr id="15" name="TextBox 14">
            <a:extLst>
              <a:ext uri="{FF2B5EF4-FFF2-40B4-BE49-F238E27FC236}">
                <a16:creationId xmlns:a16="http://schemas.microsoft.com/office/drawing/2014/main" id="{72DBDEAC-DE60-A6D0-E3C6-202C387B05BA}"/>
              </a:ext>
            </a:extLst>
          </p:cNvPr>
          <p:cNvSpPr txBox="1"/>
          <p:nvPr/>
        </p:nvSpPr>
        <p:spPr>
          <a:xfrm>
            <a:off x="9029952" y="4337510"/>
            <a:ext cx="2866030" cy="707886"/>
          </a:xfrm>
          <a:prstGeom prst="rect">
            <a:avLst/>
          </a:prstGeom>
          <a:noFill/>
        </p:spPr>
        <p:txBody>
          <a:bodyPr wrap="square" rtlCol="0">
            <a:spAutoFit/>
          </a:bodyPr>
          <a:lstStyle/>
          <a:p>
            <a:pPr marL="342900" indent="-342900">
              <a:buFont typeface="Wingdings" panose="05000000000000000000" pitchFamily="2" charset="2"/>
              <a:buChar char="Ø"/>
            </a:pPr>
            <a:r>
              <a:rPr lang="en-US" altLang="en-US" sz="2000" i="1" dirty="0">
                <a:latin typeface="Calibri" panose="020F0502020204030204" pitchFamily="34" charset="0"/>
                <a:ea typeface="Calibri" panose="020F0502020204030204" pitchFamily="34" charset="0"/>
                <a:cs typeface="Calibri" panose="020F0502020204030204" pitchFamily="34" charset="0"/>
              </a:rPr>
              <a:t>Average IMDb rating</a:t>
            </a:r>
          </a:p>
          <a:p>
            <a:pPr marL="342900" indent="-342900">
              <a:buFont typeface="Wingdings" panose="05000000000000000000" pitchFamily="2" charset="2"/>
              <a:buChar char="Ø"/>
            </a:pPr>
            <a:endParaRPr lang="en-US" sz="2000" dirty="0"/>
          </a:p>
        </p:txBody>
      </p:sp>
      <p:sp>
        <p:nvSpPr>
          <p:cNvPr id="4" name="Slide Number Placeholder 3">
            <a:extLst>
              <a:ext uri="{FF2B5EF4-FFF2-40B4-BE49-F238E27FC236}">
                <a16:creationId xmlns:a16="http://schemas.microsoft.com/office/drawing/2014/main" id="{DABE1236-C292-7AC4-A335-6ED8F9E312B1}"/>
              </a:ext>
            </a:extLst>
          </p:cNvPr>
          <p:cNvSpPr>
            <a:spLocks noGrp="1"/>
          </p:cNvSpPr>
          <p:nvPr>
            <p:ph type="sldNum" sz="quarter" idx="12"/>
          </p:nvPr>
        </p:nvSpPr>
        <p:spPr>
          <a:xfrm>
            <a:off x="11640833" y="6483789"/>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6</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p:cNvSpPr txBox="1"/>
          <p:nvPr/>
        </p:nvSpPr>
        <p:spPr>
          <a:xfrm>
            <a:off x="0" y="6327797"/>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Summary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Genre Ratings   ○ Budget vs Downloads   ○ Avg Budget – Genre   ○ Avg Budget – Industry   ○ Genre Families   ○ Top Revenue   ○ Genre Piracy   ○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737648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CA2C9-F2D3-A71B-9AC3-D96F6C995F2A}"/>
              </a:ext>
            </a:extLst>
          </p:cNvPr>
          <p:cNvSpPr>
            <a:spLocks noGrp="1"/>
          </p:cNvSpPr>
          <p:nvPr>
            <p:ph type="title"/>
          </p:nvPr>
        </p:nvSpPr>
        <p:spPr>
          <a:xfrm>
            <a:off x="1221881" y="338803"/>
            <a:ext cx="11359487" cy="453788"/>
          </a:xfrm>
        </p:spPr>
        <p:txBody>
          <a:bodyPr>
            <a:noAutofit/>
          </a:bodyPr>
          <a:lstStyle/>
          <a:p>
            <a:r>
              <a:rPr lang="en-US" altLang="en-US" b="1" i="1" dirty="0">
                <a:ln>
                  <a:noFill/>
                </a:ln>
                <a:latin typeface="Calibri" panose="020F0502020204030204" pitchFamily="34" charset="0"/>
                <a:ea typeface="Calibri" panose="020F0502020204030204" pitchFamily="34" charset="0"/>
                <a:cs typeface="Calibri" panose="020F0502020204030204" pitchFamily="34" charset="0"/>
              </a:rPr>
              <a:t>DISTRIBUTION OF GENRES WITH USER RATINGS</a:t>
            </a:r>
            <a:br>
              <a:rPr lang="en-US" altLang="en-US" b="1" i="1" dirty="0">
                <a:ln>
                  <a:noFill/>
                </a:ln>
                <a:latin typeface="Calibri" panose="020F0502020204030204" pitchFamily="34" charset="0"/>
                <a:ea typeface="Calibri" panose="020F0502020204030204" pitchFamily="34" charset="0"/>
                <a:cs typeface="Calibri" panose="020F0502020204030204" pitchFamily="34" charset="0"/>
              </a:rPr>
            </a:br>
            <a:endParaRPr lang="en-US" b="1" i="1" dirty="0"/>
          </a:p>
        </p:txBody>
      </p:sp>
      <p:sp>
        <p:nvSpPr>
          <p:cNvPr id="4" name="TextBox 3">
            <a:extLst>
              <a:ext uri="{FF2B5EF4-FFF2-40B4-BE49-F238E27FC236}">
                <a16:creationId xmlns:a16="http://schemas.microsoft.com/office/drawing/2014/main" id="{B6767226-E115-D6BF-1A06-ACD0C3ABF14F}"/>
              </a:ext>
            </a:extLst>
          </p:cNvPr>
          <p:cNvSpPr txBox="1"/>
          <p:nvPr/>
        </p:nvSpPr>
        <p:spPr>
          <a:xfrm>
            <a:off x="1687870" y="5835800"/>
            <a:ext cx="10427511" cy="430887"/>
          </a:xfrm>
          <a:prstGeom prst="rect">
            <a:avLst/>
          </a:prstGeom>
          <a:noFill/>
        </p:spPr>
        <p:txBody>
          <a:bodyPr wrap="square" rtlCol="0">
            <a:spAutoFit/>
          </a:bodyPr>
          <a:lstStyle/>
          <a:p>
            <a:pPr marL="285750" indent="-285750">
              <a:buFont typeface="Wingdings" panose="05000000000000000000" pitchFamily="2" charset="2"/>
              <a:buChar char="Ø"/>
            </a:pPr>
            <a:r>
              <a:rPr lang="en-US" sz="2200" b="1" i="1" dirty="0">
                <a:solidFill>
                  <a:srgbClr val="1C6294"/>
                </a:solidFill>
                <a:latin typeface="Calibri" panose="020F0502020204030204" pitchFamily="34" charset="0"/>
                <a:ea typeface="Calibri" panose="020F0502020204030204" pitchFamily="34" charset="0"/>
                <a:cs typeface="Calibri" panose="020F0502020204030204" pitchFamily="34" charset="0"/>
              </a:rPr>
              <a:t>This establishes the diversity of the dataset before we dive deeper into more analytics</a:t>
            </a:r>
            <a:endParaRPr lang="en-US" sz="2200" b="1" i="1" dirty="0">
              <a:solidFill>
                <a:srgbClr val="1C6294"/>
              </a:solidFill>
            </a:endParaRPr>
          </a:p>
        </p:txBody>
      </p:sp>
      <p:pic>
        <p:nvPicPr>
          <p:cNvPr id="9" name="Picture 8">
            <a:extLst>
              <a:ext uri="{FF2B5EF4-FFF2-40B4-BE49-F238E27FC236}">
                <a16:creationId xmlns:a16="http://schemas.microsoft.com/office/drawing/2014/main" id="{4EEF2202-2E45-0334-1FE7-22FCBD7A49E1}"/>
              </a:ext>
            </a:extLst>
          </p:cNvPr>
          <p:cNvPicPr>
            <a:picLocks noChangeAspect="1"/>
          </p:cNvPicPr>
          <p:nvPr/>
        </p:nvPicPr>
        <p:blipFill>
          <a:blip r:embed="rId2"/>
          <a:stretch>
            <a:fillRect/>
          </a:stretch>
        </p:blipFill>
        <p:spPr>
          <a:xfrm>
            <a:off x="4435522" y="1276582"/>
            <a:ext cx="7679859" cy="4304835"/>
          </a:xfrm>
          <a:prstGeom prst="rect">
            <a:avLst/>
          </a:prstGeom>
        </p:spPr>
      </p:pic>
      <p:sp>
        <p:nvSpPr>
          <p:cNvPr id="3" name="TextBox 2">
            <a:extLst>
              <a:ext uri="{FF2B5EF4-FFF2-40B4-BE49-F238E27FC236}">
                <a16:creationId xmlns:a16="http://schemas.microsoft.com/office/drawing/2014/main" id="{D67E9C63-3279-3D4E-EA38-0FB6CF8F862E}"/>
              </a:ext>
            </a:extLst>
          </p:cNvPr>
          <p:cNvSpPr txBox="1"/>
          <p:nvPr/>
        </p:nvSpPr>
        <p:spPr>
          <a:xfrm>
            <a:off x="1330656" y="643621"/>
            <a:ext cx="3207224" cy="5324535"/>
          </a:xfrm>
          <a:prstGeom prst="rect">
            <a:avLst/>
          </a:prstGeom>
          <a:noFill/>
        </p:spPr>
        <p:txBody>
          <a:bodyPr wrap="square" rtlCol="0">
            <a:spAutoFit/>
          </a:bodyPr>
          <a:lstStyle/>
          <a:p>
            <a:r>
              <a:rPr lang="en-US" sz="2000" b="1" i="1" dirty="0">
                <a:latin typeface="Calibri" panose="020F0502020204030204" pitchFamily="34" charset="0"/>
                <a:ea typeface="Calibri" panose="020F0502020204030204" pitchFamily="34" charset="0"/>
                <a:cs typeface="Calibri" panose="020F0502020204030204" pitchFamily="34" charset="0"/>
              </a:rPr>
              <a:t>Key Insights:</a:t>
            </a:r>
          </a:p>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Action, Comedy, and Drama</a:t>
            </a:r>
            <a:r>
              <a:rPr lang="en-US" sz="1600" i="1" dirty="0">
                <a:latin typeface="Calibri" panose="020F0502020204030204" pitchFamily="34" charset="0"/>
                <a:ea typeface="Calibri" panose="020F0502020204030204" pitchFamily="34" charset="0"/>
                <a:cs typeface="Calibri" panose="020F0502020204030204" pitchFamily="34" charset="0"/>
              </a:rPr>
              <a:t> consistently receive the highest user ratings, showing broad audience appeal.</a:t>
            </a:r>
          </a:p>
          <a:p>
            <a:pPr marL="285750" indent="-285750">
              <a:buFont typeface="Arial" panose="020B0604020202020204" pitchFamily="34" charset="0"/>
              <a:buChar char="•"/>
            </a:pPr>
            <a:endParaRPr lang="en-US" sz="16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Adventure and Crime</a:t>
            </a:r>
            <a:r>
              <a:rPr lang="en-US" sz="1600" i="1" dirty="0">
                <a:latin typeface="Calibri" panose="020F0502020204030204" pitchFamily="34" charset="0"/>
                <a:ea typeface="Calibri" panose="020F0502020204030204" pitchFamily="34" charset="0"/>
                <a:cs typeface="Calibri" panose="020F0502020204030204" pitchFamily="34" charset="0"/>
              </a:rPr>
              <a:t> also maintain strong engagement, reflecting demand for immersive and high-stakes storytelling.</a:t>
            </a:r>
          </a:p>
          <a:p>
            <a:pPr marL="285750" indent="-285750">
              <a:buFont typeface="Arial" panose="020B0604020202020204" pitchFamily="34" charset="0"/>
              <a:buChar char="•"/>
            </a:pPr>
            <a:endParaRPr lang="en-US" sz="16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Lower-rated genres like </a:t>
            </a:r>
            <a:r>
              <a:rPr lang="en-US" sz="1600" b="1" i="1" dirty="0">
                <a:latin typeface="Calibri" panose="020F0502020204030204" pitchFamily="34" charset="0"/>
                <a:ea typeface="Calibri" panose="020F0502020204030204" pitchFamily="34" charset="0"/>
                <a:cs typeface="Calibri" panose="020F0502020204030204" pitchFamily="34" charset="0"/>
              </a:rPr>
              <a:t>Family, Romance, and Fantasy</a:t>
            </a:r>
            <a:r>
              <a:rPr lang="en-US" sz="1600" i="1" dirty="0">
                <a:latin typeface="Calibri" panose="020F0502020204030204" pitchFamily="34" charset="0"/>
                <a:ea typeface="Calibri" panose="020F0502020204030204" pitchFamily="34" charset="0"/>
                <a:cs typeface="Calibri" panose="020F0502020204030204" pitchFamily="34" charset="0"/>
              </a:rPr>
              <a:t> appear less frequently and attract smaller audiences in comparison.</a:t>
            </a:r>
          </a:p>
          <a:p>
            <a:pPr marL="285750" indent="-285750">
              <a:buFont typeface="Arial" panose="020B0604020202020204" pitchFamily="34" charset="0"/>
              <a:buChar char="•"/>
            </a:pPr>
            <a:endParaRPr lang="en-US" sz="16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This rating distribution helps clarify which genres drive </a:t>
            </a:r>
            <a:r>
              <a:rPr lang="en-US" sz="1600" b="1" i="1" dirty="0">
                <a:latin typeface="Calibri" panose="020F0502020204030204" pitchFamily="34" charset="0"/>
                <a:ea typeface="Calibri" panose="020F0502020204030204" pitchFamily="34" charset="0"/>
                <a:cs typeface="Calibri" panose="020F0502020204030204" pitchFamily="34" charset="0"/>
              </a:rPr>
              <a:t>viewer satisfaction</a:t>
            </a:r>
            <a:r>
              <a:rPr lang="en-US" sz="1600" i="1" dirty="0">
                <a:latin typeface="Calibri" panose="020F0502020204030204" pitchFamily="34" charset="0"/>
                <a:ea typeface="Calibri" panose="020F0502020204030204" pitchFamily="34" charset="0"/>
                <a:cs typeface="Calibri" panose="020F0502020204030204" pitchFamily="34" charset="0"/>
              </a:rPr>
              <a:t> and which ones may rely more on </a:t>
            </a:r>
            <a:r>
              <a:rPr lang="en-US" sz="1600" b="1" i="1" dirty="0">
                <a:latin typeface="Calibri" panose="020F0502020204030204" pitchFamily="34" charset="0"/>
                <a:ea typeface="Calibri" panose="020F0502020204030204" pitchFamily="34" charset="0"/>
                <a:cs typeface="Calibri" panose="020F0502020204030204" pitchFamily="34" charset="0"/>
              </a:rPr>
              <a:t>niche audiences</a:t>
            </a:r>
            <a:r>
              <a:rPr lang="en-US" sz="1600" i="1" dirty="0">
                <a:latin typeface="Calibri" panose="020F0502020204030204" pitchFamily="34" charset="0"/>
                <a:ea typeface="Calibri" panose="020F0502020204030204" pitchFamily="34" charset="0"/>
                <a:cs typeface="Calibri" panose="020F0502020204030204" pitchFamily="34" charset="0"/>
              </a:rPr>
              <a:t>.</a:t>
            </a:r>
          </a:p>
          <a:p>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CAD9360-1FEC-2098-05B8-682737165053}"/>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7</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p:cNvSpPr txBox="1"/>
          <p:nvPr/>
        </p:nvSpPr>
        <p:spPr>
          <a:xfrm>
            <a:off x="0" y="6402165"/>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Genre Ratings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Budget vs Downloads   ○ Avg Budget – Genre   ○ Avg Budget – Industry   ○ Genre Families   ○ Top Revenue   ○ Genre Piracy   ○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1493710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9FF57-E3B6-BE9C-E801-B57A738F7A88}"/>
              </a:ext>
            </a:extLst>
          </p:cNvPr>
          <p:cNvSpPr>
            <a:spLocks noGrp="1"/>
          </p:cNvSpPr>
          <p:nvPr>
            <p:ph type="title"/>
          </p:nvPr>
        </p:nvSpPr>
        <p:spPr>
          <a:xfrm>
            <a:off x="832513" y="-95978"/>
            <a:ext cx="11536907" cy="692624"/>
          </a:xfrm>
        </p:spPr>
        <p:txBody>
          <a:bodyPr>
            <a:noAutofit/>
          </a:bodyPr>
          <a:lstStyle/>
          <a:p>
            <a:r>
              <a:rPr lang="en-US" b="1" i="1" dirty="0">
                <a:latin typeface="Calibri" panose="020F0502020204030204" pitchFamily="34" charset="0"/>
                <a:ea typeface="Calibri" panose="020F0502020204030204" pitchFamily="34" charset="0"/>
                <a:cs typeface="Calibri" panose="020F0502020204030204" pitchFamily="34" charset="0"/>
              </a:rPr>
              <a:t>BUDGET VS DOWNLOADS</a:t>
            </a:r>
          </a:p>
        </p:txBody>
      </p:sp>
      <p:pic>
        <p:nvPicPr>
          <p:cNvPr id="5" name="Content Placeholder 4">
            <a:extLst>
              <a:ext uri="{FF2B5EF4-FFF2-40B4-BE49-F238E27FC236}">
                <a16:creationId xmlns:a16="http://schemas.microsoft.com/office/drawing/2014/main" id="{C85879CF-0A5F-698B-E70F-168A97097AA8}"/>
              </a:ext>
            </a:extLst>
          </p:cNvPr>
          <p:cNvPicPr>
            <a:picLocks noGrp="1" noChangeAspect="1"/>
          </p:cNvPicPr>
          <p:nvPr>
            <p:ph idx="1"/>
          </p:nvPr>
        </p:nvPicPr>
        <p:blipFill>
          <a:blip r:embed="rId2"/>
          <a:stretch>
            <a:fillRect/>
          </a:stretch>
        </p:blipFill>
        <p:spPr>
          <a:xfrm>
            <a:off x="4742858" y="963417"/>
            <a:ext cx="7370271" cy="4113551"/>
          </a:xfrm>
          <a:prstGeom prst="rect">
            <a:avLst/>
          </a:prstGeom>
        </p:spPr>
      </p:pic>
      <p:sp>
        <p:nvSpPr>
          <p:cNvPr id="12" name="TextBox 11">
            <a:extLst>
              <a:ext uri="{FF2B5EF4-FFF2-40B4-BE49-F238E27FC236}">
                <a16:creationId xmlns:a16="http://schemas.microsoft.com/office/drawing/2014/main" id="{E1CFBC89-59FB-67EF-FC69-0DE7BBD1262A}"/>
              </a:ext>
            </a:extLst>
          </p:cNvPr>
          <p:cNvSpPr txBox="1"/>
          <p:nvPr/>
        </p:nvSpPr>
        <p:spPr>
          <a:xfrm>
            <a:off x="1576315" y="5737323"/>
            <a:ext cx="10049301" cy="830997"/>
          </a:xfrm>
          <a:prstGeom prst="rect">
            <a:avLst/>
          </a:prstGeom>
          <a:noFill/>
        </p:spPr>
        <p:txBody>
          <a:bodyPr wrap="square" rtlCol="0">
            <a:spAutoFit/>
          </a:bodyPr>
          <a:lstStyle/>
          <a:p>
            <a:pPr marL="342900" indent="-342900">
              <a:buFont typeface="Wingdings" panose="05000000000000000000" pitchFamily="2" charset="2"/>
              <a:buChar char="Ø"/>
            </a:pPr>
            <a:r>
              <a:rPr lang="en-US" altLang="en-US" sz="2400" b="1" i="1" dirty="0">
                <a:solidFill>
                  <a:srgbClr val="1C6294"/>
                </a:solidFill>
                <a:latin typeface="Calibri" panose="020F0502020204030204" pitchFamily="34" charset="0"/>
                <a:ea typeface="Calibri" panose="020F0502020204030204" pitchFamily="34" charset="0"/>
                <a:cs typeface="Calibri" panose="020F0502020204030204" pitchFamily="34" charset="0"/>
              </a:rPr>
              <a:t>This pattern suggests strong word-of-mouth influence and viral popularity. </a:t>
            </a:r>
          </a:p>
          <a:p>
            <a:pPr marL="342900" indent="-342900">
              <a:buFont typeface="Wingdings" panose="05000000000000000000" pitchFamily="2" charset="2"/>
              <a:buChar char="Ø"/>
            </a:pPr>
            <a:endParaRPr lang="en-US" sz="2400" b="1" dirty="0">
              <a:solidFill>
                <a:srgbClr val="1C6294"/>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848C35FD-C244-4966-1E9F-4ABD4F3F4CE5}"/>
              </a:ext>
            </a:extLst>
          </p:cNvPr>
          <p:cNvSpPr txBox="1"/>
          <p:nvPr/>
        </p:nvSpPr>
        <p:spPr>
          <a:xfrm>
            <a:off x="1327901" y="705177"/>
            <a:ext cx="3473356" cy="5447645"/>
          </a:xfrm>
          <a:prstGeom prst="rect">
            <a:avLst/>
          </a:prstGeom>
          <a:noFill/>
        </p:spPr>
        <p:txBody>
          <a:bodyPr wrap="square" rtlCol="0">
            <a:spAutoFit/>
          </a:bodyPr>
          <a:lstStyle/>
          <a:p>
            <a:r>
              <a:rPr lang="en-US" sz="2400" b="1" i="1" dirty="0"/>
              <a:t>Key Insights:</a:t>
            </a:r>
          </a:p>
          <a:p>
            <a:endParaRPr lang="en-US" b="1" i="1" dirty="0"/>
          </a:p>
          <a:p>
            <a:pPr marL="285750" indent="-285750">
              <a:buFont typeface="Arial" panose="020B0604020202020204" pitchFamily="34" charset="0"/>
              <a:buChar char="•"/>
            </a:pPr>
            <a:r>
              <a:rPr lang="en-US" i="1" dirty="0"/>
              <a:t>High-budget films do not always generate the highest piracy downloads.</a:t>
            </a:r>
          </a:p>
          <a:p>
            <a:endParaRPr lang="en-US" i="1" dirty="0"/>
          </a:p>
          <a:p>
            <a:pPr marL="285750" indent="-285750">
              <a:buFont typeface="Arial" panose="020B0604020202020204" pitchFamily="34" charset="0"/>
              <a:buChar char="•"/>
            </a:pPr>
            <a:r>
              <a:rPr lang="en-US" i="1" dirty="0"/>
              <a:t>Many low- and mid-budget movies show disproportionately high download volumes.</a:t>
            </a:r>
          </a:p>
          <a:p>
            <a:endParaRPr lang="en-US" i="1" dirty="0"/>
          </a:p>
          <a:p>
            <a:pPr marL="285750" indent="-285750">
              <a:buFont typeface="Arial" panose="020B0604020202020204" pitchFamily="34" charset="0"/>
              <a:buChar char="•"/>
            </a:pPr>
            <a:r>
              <a:rPr lang="en-US" i="1" dirty="0"/>
              <a:t>This indicates that viral popularity, genre fit, and audience buzz often matter more than production spend.</a:t>
            </a:r>
          </a:p>
          <a:p>
            <a:pPr marL="285750" indent="-285750">
              <a:buFont typeface="Arial" panose="020B0604020202020204" pitchFamily="34" charset="0"/>
              <a:buChar char="•"/>
            </a:pPr>
            <a:endParaRPr lang="en-US" i="1" dirty="0"/>
          </a:p>
          <a:p>
            <a:pPr marL="285750" indent="-285750">
              <a:buFont typeface="Arial" panose="020B0604020202020204" pitchFamily="34" charset="0"/>
              <a:buChar char="•"/>
            </a:pPr>
            <a:r>
              <a:rPr lang="en-US" i="1" dirty="0"/>
              <a:t>Outliers show that certain films become piracy hits regardless of budget size.</a:t>
            </a:r>
          </a:p>
          <a:p>
            <a:endParaRPr lang="en-US" b="1" i="1" dirty="0"/>
          </a:p>
        </p:txBody>
      </p:sp>
      <p:sp>
        <p:nvSpPr>
          <p:cNvPr id="4" name="TextBox 3">
            <a:extLst>
              <a:ext uri="{FF2B5EF4-FFF2-40B4-BE49-F238E27FC236}">
                <a16:creationId xmlns:a16="http://schemas.microsoft.com/office/drawing/2014/main" id="{EBDD73BD-F6C2-B3FC-E8F9-3E35F9660215}"/>
              </a:ext>
            </a:extLst>
          </p:cNvPr>
          <p:cNvSpPr txBox="1"/>
          <p:nvPr/>
        </p:nvSpPr>
        <p:spPr>
          <a:xfrm>
            <a:off x="5168433" y="5213124"/>
            <a:ext cx="7370271" cy="307777"/>
          </a:xfrm>
          <a:prstGeom prst="rect">
            <a:avLst/>
          </a:prstGeom>
          <a:noFill/>
        </p:spPr>
        <p:txBody>
          <a:bodyPr wrap="square" rtlCol="0">
            <a:spAutoFit/>
          </a:bodyPr>
          <a:lstStyle/>
          <a:p>
            <a:pPr marL="285750" indent="-285750">
              <a:buFont typeface="Wingdings" panose="05000000000000000000" pitchFamily="2" charset="2"/>
              <a:buChar char="Ø"/>
            </a:pPr>
            <a:r>
              <a:rPr lang="en-US" sz="1400" b="1" i="1" dirty="0">
                <a:solidFill>
                  <a:srgbClr val="1C6294"/>
                </a:solidFill>
              </a:rPr>
              <a:t>Overall: Piracy behavior is driven more by audience interest than financial investment.</a:t>
            </a:r>
          </a:p>
        </p:txBody>
      </p:sp>
      <p:sp>
        <p:nvSpPr>
          <p:cNvPr id="6" name="Slide Number Placeholder 5">
            <a:extLst>
              <a:ext uri="{FF2B5EF4-FFF2-40B4-BE49-F238E27FC236}">
                <a16:creationId xmlns:a16="http://schemas.microsoft.com/office/drawing/2014/main" id="{49B7FAE5-270F-7DC1-E6B0-A41E6788F2D0}"/>
              </a:ext>
            </a:extLst>
          </p:cNvPr>
          <p:cNvSpPr>
            <a:spLocks noGrp="1"/>
          </p:cNvSpPr>
          <p:nvPr>
            <p:ph type="sldNum" sz="quarter" idx="12"/>
          </p:nvPr>
        </p:nvSpPr>
        <p:spPr>
          <a:xfrm>
            <a:off x="11625616"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8</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p:cNvSpPr txBox="1"/>
          <p:nvPr/>
        </p:nvSpPr>
        <p:spPr>
          <a:xfrm>
            <a:off x="15218" y="6411062"/>
            <a:ext cx="12176782"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Budget vs Downloads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Avg Budget – Genre   ○ Avg Budget – Industry   ○ Genre Families   ○ Top Revenue   ○ Genre Piracy   ○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2267112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28DFB-2E62-BA43-E34A-DC6614C0EE61}"/>
              </a:ext>
            </a:extLst>
          </p:cNvPr>
          <p:cNvSpPr>
            <a:spLocks noGrp="1"/>
          </p:cNvSpPr>
          <p:nvPr>
            <p:ph type="title"/>
          </p:nvPr>
        </p:nvSpPr>
        <p:spPr>
          <a:xfrm>
            <a:off x="440140" y="-210203"/>
            <a:ext cx="11311719" cy="917812"/>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AVERAGE BUDGET BY GENRE</a:t>
            </a:r>
          </a:p>
        </p:txBody>
      </p:sp>
      <p:pic>
        <p:nvPicPr>
          <p:cNvPr id="5" name="Content Placeholder 4">
            <a:extLst>
              <a:ext uri="{FF2B5EF4-FFF2-40B4-BE49-F238E27FC236}">
                <a16:creationId xmlns:a16="http://schemas.microsoft.com/office/drawing/2014/main" id="{5D106D6C-63C9-9C53-B389-D1ECF6138EBE}"/>
              </a:ext>
            </a:extLst>
          </p:cNvPr>
          <p:cNvPicPr>
            <a:picLocks noGrp="1" noChangeAspect="1"/>
          </p:cNvPicPr>
          <p:nvPr>
            <p:ph idx="1"/>
          </p:nvPr>
        </p:nvPicPr>
        <p:blipFill>
          <a:blip r:embed="rId2"/>
          <a:stretch>
            <a:fillRect/>
          </a:stretch>
        </p:blipFill>
        <p:spPr>
          <a:xfrm>
            <a:off x="4953136" y="1425575"/>
            <a:ext cx="7148246" cy="4006849"/>
          </a:xfrm>
          <a:prstGeom prst="rect">
            <a:avLst/>
          </a:prstGeom>
        </p:spPr>
      </p:pic>
      <p:sp>
        <p:nvSpPr>
          <p:cNvPr id="3" name="TextBox 2">
            <a:extLst>
              <a:ext uri="{FF2B5EF4-FFF2-40B4-BE49-F238E27FC236}">
                <a16:creationId xmlns:a16="http://schemas.microsoft.com/office/drawing/2014/main" id="{D07CFBFC-D974-BF50-74D2-53F3CE9143D2}"/>
              </a:ext>
            </a:extLst>
          </p:cNvPr>
          <p:cNvSpPr txBox="1"/>
          <p:nvPr/>
        </p:nvSpPr>
        <p:spPr>
          <a:xfrm>
            <a:off x="1207825" y="1505484"/>
            <a:ext cx="3862316" cy="4185761"/>
          </a:xfrm>
          <a:prstGeom prst="rect">
            <a:avLst/>
          </a:prstGeom>
          <a:noFill/>
        </p:spPr>
        <p:txBody>
          <a:bodyPr wrap="square" rtlCol="0">
            <a:spAutoFit/>
          </a:bodyPr>
          <a:lstStyle/>
          <a:p>
            <a:r>
              <a:rPr lang="en-US" sz="2000" b="1" i="1" dirty="0">
                <a:latin typeface="Calibri" panose="020F0502020204030204" pitchFamily="34" charset="0"/>
                <a:ea typeface="Calibri" panose="020F0502020204030204" pitchFamily="34" charset="0"/>
                <a:cs typeface="Calibri" panose="020F0502020204030204" pitchFamily="34" charset="0"/>
              </a:rPr>
              <a:t>Key Insights:</a:t>
            </a:r>
          </a:p>
          <a:p>
            <a:pPr marL="342900" indent="-342900">
              <a:buFont typeface="Arial" panose="020B0604020202020204" pitchFamily="34" charset="0"/>
              <a:buChar char="•"/>
            </a:pPr>
            <a:endParaRPr lang="en-US" sz="2000" b="1"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Action films</a:t>
            </a:r>
            <a:r>
              <a:rPr lang="en-US" sz="1600" i="1" dirty="0">
                <a:latin typeface="Calibri" panose="020F0502020204030204" pitchFamily="34" charset="0"/>
                <a:ea typeface="Calibri" panose="020F0502020204030204" pitchFamily="34" charset="0"/>
                <a:cs typeface="Calibri" panose="020F0502020204030204" pitchFamily="34" charset="0"/>
              </a:rPr>
              <a:t> dominate with the </a:t>
            </a:r>
            <a:r>
              <a:rPr lang="en-US" sz="1600" b="1" i="1" dirty="0">
                <a:latin typeface="Calibri" panose="020F0502020204030204" pitchFamily="34" charset="0"/>
                <a:ea typeface="Calibri" panose="020F0502020204030204" pitchFamily="34" charset="0"/>
                <a:cs typeface="Calibri" panose="020F0502020204030204" pitchFamily="34" charset="0"/>
              </a:rPr>
              <a:t>highest average budgets</a:t>
            </a:r>
            <a:r>
              <a:rPr lang="en-US" sz="1600" i="1" dirty="0">
                <a:latin typeface="Calibri" panose="020F0502020204030204" pitchFamily="34" charset="0"/>
                <a:ea typeface="Calibri" panose="020F0502020204030204" pitchFamily="34" charset="0"/>
                <a:cs typeface="Calibri" panose="020F0502020204030204" pitchFamily="34" charset="0"/>
              </a:rPr>
              <a:t>, driven by large-scale effects, stunts, and global production.</a:t>
            </a:r>
          </a:p>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Comedy, Adventure, and Drama</a:t>
            </a:r>
            <a:r>
              <a:rPr lang="en-US" sz="1600" i="1" dirty="0">
                <a:latin typeface="Calibri" panose="020F0502020204030204" pitchFamily="34" charset="0"/>
                <a:ea typeface="Calibri" panose="020F0502020204030204" pitchFamily="34" charset="0"/>
                <a:cs typeface="Calibri" panose="020F0502020204030204" pitchFamily="34" charset="0"/>
              </a:rPr>
              <a:t> follow, representing mid-range budget categories that balance commercial appeal with moderate production cost.</a:t>
            </a:r>
          </a:p>
          <a:p>
            <a:pPr marL="285750" indent="-285750">
              <a:buFont typeface="Arial" panose="020B0604020202020204" pitchFamily="34" charset="0"/>
              <a:buChar char="•"/>
            </a:pPr>
            <a:endParaRPr lang="en-US" sz="16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Horror, Thriller, Fantasy, and Family</a:t>
            </a:r>
            <a:r>
              <a:rPr lang="en-US" sz="1600" i="1" dirty="0">
                <a:latin typeface="Calibri" panose="020F0502020204030204" pitchFamily="34" charset="0"/>
                <a:ea typeface="Calibri" panose="020F0502020204030204" pitchFamily="34" charset="0"/>
                <a:cs typeface="Calibri" panose="020F0502020204030204" pitchFamily="34" charset="0"/>
              </a:rPr>
              <a:t> genres maintain </a:t>
            </a:r>
            <a:r>
              <a:rPr lang="en-US" sz="1600" b="1" i="1" dirty="0">
                <a:latin typeface="Calibri" panose="020F0502020204030204" pitchFamily="34" charset="0"/>
                <a:ea typeface="Calibri" panose="020F0502020204030204" pitchFamily="34" charset="0"/>
                <a:cs typeface="Calibri" panose="020F0502020204030204" pitchFamily="34" charset="0"/>
              </a:rPr>
              <a:t>lean budgets</a:t>
            </a:r>
            <a:r>
              <a:rPr lang="en-US" sz="1600" i="1" dirty="0">
                <a:latin typeface="Calibri" panose="020F0502020204030204" pitchFamily="34" charset="0"/>
                <a:ea typeface="Calibri" panose="020F0502020204030204" pitchFamily="34" charset="0"/>
                <a:cs typeface="Calibri" panose="020F0502020204030204" pitchFamily="34" charset="0"/>
              </a:rPr>
              <a:t>, yet many of these outperform expectations through strong niche audiences.</a:t>
            </a:r>
          </a:p>
          <a:p>
            <a:pPr marL="285750" indent="-285750">
              <a:buFont typeface="Arial" panose="020B0604020202020204" pitchFamily="34" charset="0"/>
              <a:buChar char="•"/>
            </a:pPr>
            <a:endParaRPr lang="en-US" sz="1600" i="1"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339CBE0-0FBF-5123-1705-EA7F0E8C8DF6}"/>
              </a:ext>
            </a:extLst>
          </p:cNvPr>
          <p:cNvSpPr txBox="1"/>
          <p:nvPr/>
        </p:nvSpPr>
        <p:spPr>
          <a:xfrm>
            <a:off x="1351128" y="5565615"/>
            <a:ext cx="10840872" cy="923330"/>
          </a:xfrm>
          <a:prstGeom prst="rect">
            <a:avLst/>
          </a:prstGeom>
          <a:noFill/>
        </p:spPr>
        <p:txBody>
          <a:bodyPr wrap="square" rtlCol="0">
            <a:spAutoFit/>
          </a:bodyPr>
          <a:lstStyle/>
          <a:p>
            <a:pPr marL="342900" indent="-342900">
              <a:buFont typeface="Wingdings" panose="05000000000000000000" pitchFamily="2" charset="2"/>
              <a:buChar char="Ø"/>
            </a:pPr>
            <a:r>
              <a:rPr lang="en-US" b="1" i="1" dirty="0">
                <a:solidFill>
                  <a:srgbClr val="1C6294"/>
                </a:solidFill>
                <a:latin typeface="Calibri" panose="020F0502020204030204" pitchFamily="34" charset="0"/>
                <a:ea typeface="Calibri" panose="020F0502020204030204" pitchFamily="34" charset="0"/>
                <a:cs typeface="Calibri" panose="020F0502020204030204" pitchFamily="34" charset="0"/>
              </a:rPr>
              <a:t>The contrast highlights how budget size is strategically aligned to expected box-office performance across genres.</a:t>
            </a:r>
          </a:p>
          <a:p>
            <a:pPr marL="342900" indent="-342900">
              <a:buFont typeface="Wingdings" panose="05000000000000000000" pitchFamily="2" charset="2"/>
              <a:buChar char="Ø"/>
            </a:pPr>
            <a:endParaRPr lang="en-US" b="1" dirty="0">
              <a:solidFill>
                <a:srgbClr val="1C6294"/>
              </a:solidFill>
            </a:endParaRPr>
          </a:p>
        </p:txBody>
      </p:sp>
      <p:sp>
        <p:nvSpPr>
          <p:cNvPr id="6" name="Slide Number Placeholder 5">
            <a:extLst>
              <a:ext uri="{FF2B5EF4-FFF2-40B4-BE49-F238E27FC236}">
                <a16:creationId xmlns:a16="http://schemas.microsoft.com/office/drawing/2014/main" id="{88A5C97C-D6EA-C842-4913-9233CE02EA5B}"/>
              </a:ext>
            </a:extLst>
          </p:cNvPr>
          <p:cNvSpPr>
            <a:spLocks noGrp="1"/>
          </p:cNvSpPr>
          <p:nvPr>
            <p:ph type="sldNum" sz="quarter" idx="12"/>
          </p:nvPr>
        </p:nvSpPr>
        <p:spPr>
          <a:xfrm>
            <a:off x="11640833" y="648894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9</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0" y="6355754"/>
            <a:ext cx="12192001"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Avg Budget – Genre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Avg Budget – Industry   ○ Genre Families   ○ Top Revenue   ○ Genre Piracy   ○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3839887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091BC-2957-E9B7-C9A2-9D999DEDFE7F}"/>
              </a:ext>
            </a:extLst>
          </p:cNvPr>
          <p:cNvSpPr>
            <a:spLocks noGrp="1"/>
          </p:cNvSpPr>
          <p:nvPr>
            <p:ph type="title"/>
          </p:nvPr>
        </p:nvSpPr>
        <p:spPr>
          <a:xfrm>
            <a:off x="589500" y="-146713"/>
            <a:ext cx="11013000" cy="781334"/>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AVERAGE BUDGET BY INDUSTRY</a:t>
            </a:r>
          </a:p>
        </p:txBody>
      </p:sp>
      <p:pic>
        <p:nvPicPr>
          <p:cNvPr id="5" name="Picture 4">
            <a:extLst>
              <a:ext uri="{FF2B5EF4-FFF2-40B4-BE49-F238E27FC236}">
                <a16:creationId xmlns:a16="http://schemas.microsoft.com/office/drawing/2014/main" id="{61953F5F-7A47-B86F-4FBA-DE91C3C1AF1B}"/>
              </a:ext>
            </a:extLst>
          </p:cNvPr>
          <p:cNvPicPr>
            <a:picLocks noChangeAspect="1"/>
          </p:cNvPicPr>
          <p:nvPr/>
        </p:nvPicPr>
        <p:blipFill>
          <a:blip r:embed="rId2"/>
          <a:stretch>
            <a:fillRect/>
          </a:stretch>
        </p:blipFill>
        <p:spPr>
          <a:xfrm>
            <a:off x="4517409" y="1275204"/>
            <a:ext cx="7606352" cy="4263157"/>
          </a:xfrm>
          <a:prstGeom prst="rect">
            <a:avLst/>
          </a:prstGeom>
        </p:spPr>
      </p:pic>
      <p:sp>
        <p:nvSpPr>
          <p:cNvPr id="3" name="TextBox 2">
            <a:extLst>
              <a:ext uri="{FF2B5EF4-FFF2-40B4-BE49-F238E27FC236}">
                <a16:creationId xmlns:a16="http://schemas.microsoft.com/office/drawing/2014/main" id="{F3B4221A-28FA-AD54-2470-AC3389C18F21}"/>
              </a:ext>
            </a:extLst>
          </p:cNvPr>
          <p:cNvSpPr txBox="1"/>
          <p:nvPr/>
        </p:nvSpPr>
        <p:spPr>
          <a:xfrm>
            <a:off x="1232516" y="1166841"/>
            <a:ext cx="3364173" cy="4524315"/>
          </a:xfrm>
          <a:prstGeom prst="rect">
            <a:avLst/>
          </a:prstGeom>
          <a:noFill/>
        </p:spPr>
        <p:txBody>
          <a:bodyPr wrap="square" rtlCol="0">
            <a:spAutoFit/>
          </a:bodyPr>
          <a:lstStyle/>
          <a:p>
            <a:r>
              <a:rPr lang="en-US" sz="2400" b="1" i="1" dirty="0">
                <a:latin typeface="Calibri" panose="020F0502020204030204" pitchFamily="34" charset="0"/>
                <a:ea typeface="Calibri" panose="020F0502020204030204" pitchFamily="34" charset="0"/>
                <a:cs typeface="Calibri" panose="020F0502020204030204" pitchFamily="34" charset="0"/>
              </a:rPr>
              <a:t>Key Takeaways:</a:t>
            </a:r>
          </a:p>
          <a:p>
            <a:pPr marL="285750" indent="-285750">
              <a:buFont typeface="Wingdings" panose="05000000000000000000" pitchFamily="2" charset="2"/>
              <a:buChar char="Ø"/>
            </a:pPr>
            <a:endParaRPr lang="en-US" sz="2400" b="1"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Hollywood/English films operate with </a:t>
            </a:r>
            <a:r>
              <a:rPr lang="en-US" sz="1600" b="1" i="1" dirty="0">
                <a:latin typeface="Calibri" panose="020F0502020204030204" pitchFamily="34" charset="0"/>
                <a:ea typeface="Calibri" panose="020F0502020204030204" pitchFamily="34" charset="0"/>
                <a:cs typeface="Calibri" panose="020F0502020204030204" pitchFamily="34" charset="0"/>
              </a:rPr>
              <a:t>significantly higher production budgets</a:t>
            </a:r>
            <a:r>
              <a:rPr lang="en-US" sz="1600" i="1" dirty="0">
                <a:latin typeface="Calibri" panose="020F0502020204030204" pitchFamily="34" charset="0"/>
                <a:ea typeface="Calibri" panose="020F0502020204030204" pitchFamily="34" charset="0"/>
                <a:cs typeface="Calibri" panose="020F0502020204030204" pitchFamily="34" charset="0"/>
              </a:rPr>
              <a:t> than any other industry.</a:t>
            </a:r>
          </a:p>
          <a:p>
            <a:endParaRPr lang="en-US" sz="16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Anime/Kids productions form the </a:t>
            </a:r>
            <a:r>
              <a:rPr lang="en-US" sz="1600" b="1" i="1" dirty="0">
                <a:latin typeface="Calibri" panose="020F0502020204030204" pitchFamily="34" charset="0"/>
                <a:ea typeface="Calibri" panose="020F0502020204030204" pitchFamily="34" charset="0"/>
                <a:cs typeface="Calibri" panose="020F0502020204030204" pitchFamily="34" charset="0"/>
              </a:rPr>
              <a:t>second-largest budget group</a:t>
            </a:r>
            <a:r>
              <a:rPr lang="en-US" sz="1600" i="1" dirty="0">
                <a:latin typeface="Calibri" panose="020F0502020204030204" pitchFamily="34" charset="0"/>
                <a:ea typeface="Calibri" panose="020F0502020204030204" pitchFamily="34" charset="0"/>
                <a:cs typeface="Calibri" panose="020F0502020204030204" pitchFamily="34" charset="0"/>
              </a:rPr>
              <a:t>, though far below Hollywood levels.</a:t>
            </a:r>
          </a:p>
          <a:p>
            <a:pPr marL="285750" indent="-285750">
              <a:buFont typeface="Arial" panose="020B0604020202020204" pitchFamily="34" charset="0"/>
              <a:buChar char="•"/>
            </a:pPr>
            <a:endParaRPr lang="en-US" sz="16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Regional industries like </a:t>
            </a:r>
            <a:r>
              <a:rPr lang="en-US" sz="1600" b="1" i="1" dirty="0">
                <a:latin typeface="Calibri" panose="020F0502020204030204" pitchFamily="34" charset="0"/>
                <a:ea typeface="Calibri" panose="020F0502020204030204" pitchFamily="34" charset="0"/>
                <a:cs typeface="Calibri" panose="020F0502020204030204" pitchFamily="34" charset="0"/>
              </a:rPr>
              <a:t>Dubbed Audio, Bollywood/Indian, and Tollywood</a:t>
            </a:r>
            <a:r>
              <a:rPr lang="en-US" sz="1600" i="1" dirty="0">
                <a:latin typeface="Calibri" panose="020F0502020204030204" pitchFamily="34" charset="0"/>
                <a:ea typeface="Calibri" panose="020F0502020204030204" pitchFamily="34" charset="0"/>
                <a:cs typeface="Calibri" panose="020F0502020204030204" pitchFamily="34" charset="0"/>
              </a:rPr>
              <a:t> operate with </a:t>
            </a:r>
            <a:r>
              <a:rPr lang="en-US" sz="1600" b="1" i="1" dirty="0">
                <a:latin typeface="Calibri" panose="020F0502020204030204" pitchFamily="34" charset="0"/>
                <a:ea typeface="Calibri" panose="020F0502020204030204" pitchFamily="34" charset="0"/>
                <a:cs typeface="Calibri" panose="020F0502020204030204" pitchFamily="34" charset="0"/>
              </a:rPr>
              <a:t>much leaner budgets</a:t>
            </a:r>
            <a:r>
              <a:rPr lang="en-US" sz="1600" i="1" dirty="0">
                <a:latin typeface="Calibri" panose="020F0502020204030204" pitchFamily="34" charset="0"/>
                <a:ea typeface="Calibri" panose="020F0502020204030204" pitchFamily="34" charset="0"/>
                <a:cs typeface="Calibri" panose="020F0502020204030204" pitchFamily="34" charset="0"/>
              </a:rPr>
              <a:t>, reflecting different market economics.</a:t>
            </a:r>
          </a:p>
          <a:p>
            <a:pPr marL="285750" indent="-285750">
              <a:buFont typeface="Arial" panose="020B0604020202020204" pitchFamily="34" charset="0"/>
              <a:buChar char="•"/>
            </a:pPr>
            <a:endParaRPr lang="en-US" sz="1600" i="1"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2F2B715-EBA4-A8D3-F55C-D029CD4C2BEA}"/>
              </a:ext>
            </a:extLst>
          </p:cNvPr>
          <p:cNvSpPr txBox="1"/>
          <p:nvPr/>
        </p:nvSpPr>
        <p:spPr>
          <a:xfrm>
            <a:off x="1630907" y="5646724"/>
            <a:ext cx="10561093" cy="923330"/>
          </a:xfrm>
          <a:prstGeom prst="rect">
            <a:avLst/>
          </a:prstGeom>
          <a:noFill/>
        </p:spPr>
        <p:txBody>
          <a:bodyPr wrap="square" rtlCol="0">
            <a:spAutoFit/>
          </a:bodyPr>
          <a:lstStyle/>
          <a:p>
            <a:pPr marL="285750" indent="-285750">
              <a:buFont typeface="Wingdings" panose="05000000000000000000" pitchFamily="2" charset="2"/>
              <a:buChar char="Ø"/>
            </a:pPr>
            <a:r>
              <a:rPr lang="en-US" b="1" i="1" dirty="0">
                <a:solidFill>
                  <a:srgbClr val="1C6294"/>
                </a:solidFill>
                <a:latin typeface="Calibri" panose="020F0502020204030204" pitchFamily="34" charset="0"/>
                <a:ea typeface="Calibri" panose="020F0502020204030204" pitchFamily="34" charset="0"/>
                <a:cs typeface="Calibri" panose="020F0502020204030204" pitchFamily="34" charset="0"/>
              </a:rPr>
              <a:t>These differences highlight how industry scale shapes spending power, production quality, and ultimately revenue potential.</a:t>
            </a:r>
          </a:p>
          <a:p>
            <a:pPr marL="285750" indent="-285750">
              <a:buFont typeface="Wingdings" panose="05000000000000000000" pitchFamily="2" charset="2"/>
              <a:buChar char="Ø"/>
            </a:pPr>
            <a:endParaRPr lang="en-US" b="1" dirty="0">
              <a:solidFill>
                <a:srgbClr val="1C6294"/>
              </a:solidFill>
            </a:endParaRPr>
          </a:p>
        </p:txBody>
      </p:sp>
      <p:sp>
        <p:nvSpPr>
          <p:cNvPr id="8" name="Slide Number Placeholder 7">
            <a:extLst>
              <a:ext uri="{FF2B5EF4-FFF2-40B4-BE49-F238E27FC236}">
                <a16:creationId xmlns:a16="http://schemas.microsoft.com/office/drawing/2014/main" id="{E99C6D26-80D8-6C1D-A0BF-4CAE43CB216B}"/>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10</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p:cNvSpPr txBox="1"/>
          <p:nvPr/>
        </p:nvSpPr>
        <p:spPr>
          <a:xfrm>
            <a:off x="0" y="6323598"/>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Avg Budget – Industry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Genre Families   ○ Top Revenue   ○ Genre Piracy   ○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539930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F4CDD-DD9A-C970-F4B7-06FEEF141A45}"/>
              </a:ext>
            </a:extLst>
          </p:cNvPr>
          <p:cNvSpPr>
            <a:spLocks noGrp="1"/>
          </p:cNvSpPr>
          <p:nvPr>
            <p:ph type="title"/>
          </p:nvPr>
        </p:nvSpPr>
        <p:spPr>
          <a:xfrm>
            <a:off x="515203" y="-187657"/>
            <a:ext cx="11161593" cy="829101"/>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GENRE FAMILY ANALYSIS</a:t>
            </a:r>
          </a:p>
        </p:txBody>
      </p:sp>
      <p:sp>
        <p:nvSpPr>
          <p:cNvPr id="4" name="TextBox 3">
            <a:extLst>
              <a:ext uri="{FF2B5EF4-FFF2-40B4-BE49-F238E27FC236}">
                <a16:creationId xmlns:a16="http://schemas.microsoft.com/office/drawing/2014/main" id="{525A3423-F265-A8DA-D04C-EF0512BF836C}"/>
              </a:ext>
            </a:extLst>
          </p:cNvPr>
          <p:cNvSpPr txBox="1"/>
          <p:nvPr/>
        </p:nvSpPr>
        <p:spPr>
          <a:xfrm>
            <a:off x="1173707" y="1628506"/>
            <a:ext cx="3828197" cy="3600986"/>
          </a:xfrm>
          <a:prstGeom prst="rect">
            <a:avLst/>
          </a:prstGeom>
          <a:noFill/>
        </p:spPr>
        <p:txBody>
          <a:bodyPr wrap="square" rtlCol="0">
            <a:spAutoFit/>
          </a:bodyPr>
          <a:lstStyle/>
          <a:p>
            <a:r>
              <a:rPr lang="en-US" sz="2400" b="1" i="1" dirty="0">
                <a:latin typeface="Calibri" panose="020F0502020204030204" pitchFamily="34" charset="0"/>
                <a:ea typeface="Calibri" panose="020F0502020204030204" pitchFamily="34" charset="0"/>
                <a:cs typeface="Calibri" panose="020F0502020204030204" pitchFamily="34" charset="0"/>
              </a:rPr>
              <a:t>Key Insights:</a:t>
            </a:r>
          </a:p>
          <a:p>
            <a:pPr marL="342900" indent="-342900">
              <a:buFont typeface="Wingdings" panose="05000000000000000000" pitchFamily="2" charset="2"/>
              <a:buChar char="Ø"/>
            </a:pPr>
            <a:endParaRPr lang="en-US" sz="2400" b="1" i="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i="1" dirty="0">
                <a:latin typeface="Calibri" panose="020F0502020204030204" pitchFamily="34" charset="0"/>
                <a:ea typeface="Calibri" panose="020F0502020204030204" pitchFamily="34" charset="0"/>
                <a:cs typeface="Calibri" panose="020F0502020204030204" pitchFamily="34" charset="0"/>
              </a:rPr>
              <a:t>When aggregating the dataset into 10 genre families, we see that </a:t>
            </a:r>
            <a:r>
              <a:rPr lang="en-US" sz="2000" b="1" i="1" dirty="0">
                <a:latin typeface="Calibri" panose="020F0502020204030204" pitchFamily="34" charset="0"/>
                <a:ea typeface="Calibri" panose="020F0502020204030204" pitchFamily="34" charset="0"/>
                <a:cs typeface="Calibri" panose="020F0502020204030204" pitchFamily="34" charset="0"/>
              </a:rPr>
              <a:t>Action</a:t>
            </a:r>
            <a:r>
              <a:rPr lang="en-US" sz="2000" i="1" dirty="0">
                <a:latin typeface="Calibri" panose="020F0502020204030204" pitchFamily="34" charset="0"/>
                <a:ea typeface="Calibri" panose="020F0502020204030204" pitchFamily="34" charset="0"/>
                <a:cs typeface="Calibri" panose="020F0502020204030204" pitchFamily="34" charset="0"/>
              </a:rPr>
              <a:t>, </a:t>
            </a:r>
            <a:r>
              <a:rPr lang="en-US" sz="2000" b="1" i="1" dirty="0">
                <a:latin typeface="Calibri" panose="020F0502020204030204" pitchFamily="34" charset="0"/>
                <a:ea typeface="Calibri" panose="020F0502020204030204" pitchFamily="34" charset="0"/>
                <a:cs typeface="Calibri" panose="020F0502020204030204" pitchFamily="34" charset="0"/>
              </a:rPr>
              <a:t>Drama</a:t>
            </a:r>
            <a:r>
              <a:rPr lang="en-US" sz="2000" i="1" dirty="0">
                <a:latin typeface="Calibri" panose="020F0502020204030204" pitchFamily="34" charset="0"/>
                <a:ea typeface="Calibri" panose="020F0502020204030204" pitchFamily="34" charset="0"/>
                <a:cs typeface="Calibri" panose="020F0502020204030204" pitchFamily="34" charset="0"/>
              </a:rPr>
              <a:t>, </a:t>
            </a:r>
            <a:r>
              <a:rPr lang="en-US" sz="2000" b="1" i="1" dirty="0">
                <a:latin typeface="Calibri" panose="020F0502020204030204" pitchFamily="34" charset="0"/>
                <a:ea typeface="Calibri" panose="020F0502020204030204" pitchFamily="34" charset="0"/>
                <a:cs typeface="Calibri" panose="020F0502020204030204" pitchFamily="34" charset="0"/>
              </a:rPr>
              <a:t>Comedy</a:t>
            </a:r>
            <a:r>
              <a:rPr lang="en-US" sz="2000" i="1" dirty="0">
                <a:latin typeface="Calibri" panose="020F0502020204030204" pitchFamily="34" charset="0"/>
                <a:ea typeface="Calibri" panose="020F0502020204030204" pitchFamily="34" charset="0"/>
                <a:cs typeface="Calibri" panose="020F0502020204030204" pitchFamily="34" charset="0"/>
              </a:rPr>
              <a:t>, and </a:t>
            </a:r>
            <a:r>
              <a:rPr lang="en-US" sz="2000" b="1" i="1" dirty="0">
                <a:latin typeface="Calibri" panose="020F0502020204030204" pitchFamily="34" charset="0"/>
                <a:ea typeface="Calibri" panose="020F0502020204030204" pitchFamily="34" charset="0"/>
                <a:cs typeface="Calibri" panose="020F0502020204030204" pitchFamily="34" charset="0"/>
              </a:rPr>
              <a:t>Thriller</a:t>
            </a:r>
            <a:r>
              <a:rPr lang="en-US" sz="2000" i="1" dirty="0">
                <a:latin typeface="Calibri" panose="020F0502020204030204" pitchFamily="34" charset="0"/>
                <a:ea typeface="Calibri" panose="020F0502020204030204" pitchFamily="34" charset="0"/>
                <a:cs typeface="Calibri" panose="020F0502020204030204" pitchFamily="34" charset="0"/>
              </a:rPr>
              <a:t> dominate both Revenue and piracy volume.</a:t>
            </a:r>
          </a:p>
          <a:p>
            <a:pPr marL="342900" indent="-342900">
              <a:buFont typeface="Arial" panose="020B0604020202020204" pitchFamily="34" charset="0"/>
              <a:buChar char="•"/>
            </a:pPr>
            <a:endParaRPr lang="en-US" sz="2000" i="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i="1" dirty="0">
                <a:latin typeface="Calibri" panose="020F0502020204030204" pitchFamily="34" charset="0"/>
                <a:ea typeface="Calibri" panose="020F0502020204030204" pitchFamily="34" charset="0"/>
                <a:cs typeface="Calibri" panose="020F0502020204030204" pitchFamily="34" charset="0"/>
              </a:rPr>
              <a:t>Action continues to show the strongest connection with piracy.</a:t>
            </a:r>
          </a:p>
        </p:txBody>
      </p:sp>
      <p:pic>
        <p:nvPicPr>
          <p:cNvPr id="6" name="Picture 5">
            <a:extLst>
              <a:ext uri="{FF2B5EF4-FFF2-40B4-BE49-F238E27FC236}">
                <a16:creationId xmlns:a16="http://schemas.microsoft.com/office/drawing/2014/main" id="{E920DB01-52D2-B87C-BCAB-C713398B27C5}"/>
              </a:ext>
            </a:extLst>
          </p:cNvPr>
          <p:cNvPicPr>
            <a:picLocks noChangeAspect="1"/>
          </p:cNvPicPr>
          <p:nvPr/>
        </p:nvPicPr>
        <p:blipFill>
          <a:blip r:embed="rId2"/>
          <a:stretch>
            <a:fillRect/>
          </a:stretch>
        </p:blipFill>
        <p:spPr>
          <a:xfrm>
            <a:off x="4819830" y="1402681"/>
            <a:ext cx="7292558" cy="4097365"/>
          </a:xfrm>
          <a:prstGeom prst="rect">
            <a:avLst/>
          </a:prstGeom>
        </p:spPr>
      </p:pic>
      <p:sp>
        <p:nvSpPr>
          <p:cNvPr id="3" name="Slide Number Placeholder 2">
            <a:extLst>
              <a:ext uri="{FF2B5EF4-FFF2-40B4-BE49-F238E27FC236}">
                <a16:creationId xmlns:a16="http://schemas.microsoft.com/office/drawing/2014/main" id="{ADE141A3-3E34-9159-8770-F3250B015956}"/>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11</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0" y="6336883"/>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Genre Families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Top Revenue   ○ Genre Piracy   ○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2122779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13B57-CD37-8B95-8C06-83645E1CAF6B}"/>
              </a:ext>
            </a:extLst>
          </p:cNvPr>
          <p:cNvSpPr>
            <a:spLocks noGrp="1"/>
          </p:cNvSpPr>
          <p:nvPr>
            <p:ph type="title"/>
          </p:nvPr>
        </p:nvSpPr>
        <p:spPr>
          <a:xfrm>
            <a:off x="958755" y="-104299"/>
            <a:ext cx="10274490" cy="678976"/>
          </a:xfrm>
        </p:spPr>
        <p:txBody>
          <a:bodyPr>
            <a:noAutofit/>
          </a:bodyPr>
          <a:lstStyle/>
          <a:p>
            <a:r>
              <a:rPr lang="en-US" b="1" i="1" dirty="0">
                <a:latin typeface="Calibri" panose="020F0502020204030204" pitchFamily="34" charset="0"/>
                <a:ea typeface="Calibri" panose="020F0502020204030204" pitchFamily="34" charset="0"/>
                <a:cs typeface="Calibri" panose="020F0502020204030204" pitchFamily="34" charset="0"/>
              </a:rPr>
              <a:t>TOP 20 HIGH REVENUE MOVIES</a:t>
            </a:r>
          </a:p>
        </p:txBody>
      </p:sp>
      <p:sp>
        <p:nvSpPr>
          <p:cNvPr id="3" name="Content Placeholder 2">
            <a:extLst>
              <a:ext uri="{FF2B5EF4-FFF2-40B4-BE49-F238E27FC236}">
                <a16:creationId xmlns:a16="http://schemas.microsoft.com/office/drawing/2014/main" id="{6F20E985-952B-4370-6DBC-33CFAC3BAE68}"/>
              </a:ext>
            </a:extLst>
          </p:cNvPr>
          <p:cNvSpPr>
            <a:spLocks noGrp="1"/>
          </p:cNvSpPr>
          <p:nvPr>
            <p:ph idx="1"/>
          </p:nvPr>
        </p:nvSpPr>
        <p:spPr>
          <a:xfrm>
            <a:off x="1429213" y="750945"/>
            <a:ext cx="2975213" cy="5356110"/>
          </a:xfrm>
        </p:spPr>
        <p:txBody>
          <a:bodyPr>
            <a:noAutofit/>
          </a:bodyPr>
          <a:lstStyle/>
          <a:p>
            <a:pPr>
              <a:buClr>
                <a:schemeClr val="tx1">
                  <a:lumMod val="95000"/>
                  <a:lumOff val="5000"/>
                </a:schemeClr>
              </a:buClr>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Hollywood franchises dominate</a:t>
            </a:r>
            <a:r>
              <a:rPr lang="en-US" sz="1600" i="1" dirty="0">
                <a:latin typeface="Calibri" panose="020F0502020204030204" pitchFamily="34" charset="0"/>
                <a:ea typeface="Calibri" panose="020F0502020204030204" pitchFamily="34" charset="0"/>
                <a:cs typeface="Calibri" panose="020F0502020204030204" pitchFamily="34" charset="0"/>
              </a:rPr>
              <a:t> global revenue, led by Avatar, Star Wars, and Avengers — each exceeding the </a:t>
            </a:r>
            <a:r>
              <a:rPr lang="en-US" sz="1600" b="1" i="1" dirty="0">
                <a:latin typeface="Calibri" panose="020F0502020204030204" pitchFamily="34" charset="0"/>
                <a:ea typeface="Calibri" panose="020F0502020204030204" pitchFamily="34" charset="0"/>
                <a:cs typeface="Calibri" panose="020F0502020204030204" pitchFamily="34" charset="0"/>
              </a:rPr>
              <a:t>$1.5B+</a:t>
            </a:r>
            <a:r>
              <a:rPr lang="en-US" sz="1600" i="1" dirty="0">
                <a:latin typeface="Calibri" panose="020F0502020204030204" pitchFamily="34" charset="0"/>
                <a:ea typeface="Calibri" panose="020F0502020204030204" pitchFamily="34" charset="0"/>
                <a:cs typeface="Calibri" panose="020F0502020204030204" pitchFamily="34" charset="0"/>
              </a:rPr>
              <a:t> mark.</a:t>
            </a:r>
          </a:p>
          <a:p>
            <a:pPr>
              <a:buClr>
                <a:schemeClr val="tx1">
                  <a:lumMod val="95000"/>
                  <a:lumOff val="5000"/>
                </a:schemeClr>
              </a:buClr>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Consistent patterns emerge</a:t>
            </a:r>
            <a:r>
              <a:rPr lang="en-US" sz="1600" i="1" dirty="0">
                <a:latin typeface="Calibri" panose="020F0502020204030204" pitchFamily="34" charset="0"/>
                <a:ea typeface="Calibri" panose="020F0502020204030204" pitchFamily="34" charset="0"/>
                <a:cs typeface="Calibri" panose="020F0502020204030204" pitchFamily="34" charset="0"/>
              </a:rPr>
              <a:t> superhero, fantasy, and sci-fi films continue to outperform all other genres internationally.</a:t>
            </a:r>
          </a:p>
          <a:p>
            <a:pPr>
              <a:buClr>
                <a:schemeClr val="tx1">
                  <a:lumMod val="95000"/>
                  <a:lumOff val="5000"/>
                </a:schemeClr>
              </a:buClr>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Revenue concentration shows the impact of </a:t>
            </a:r>
            <a:r>
              <a:rPr lang="en-US" sz="1600" b="1" i="1" dirty="0">
                <a:latin typeface="Calibri" panose="020F0502020204030204" pitchFamily="34" charset="0"/>
                <a:ea typeface="Calibri" panose="020F0502020204030204" pitchFamily="34" charset="0"/>
                <a:cs typeface="Calibri" panose="020F0502020204030204" pitchFamily="34" charset="0"/>
              </a:rPr>
              <a:t>franchise power, global fanbases, and strong international distribution</a:t>
            </a:r>
            <a:r>
              <a:rPr lang="en-US" sz="1600" i="1" dirty="0">
                <a:latin typeface="Calibri" panose="020F0502020204030204" pitchFamily="34" charset="0"/>
                <a:ea typeface="Calibri" panose="020F0502020204030204" pitchFamily="34" charset="0"/>
                <a:cs typeface="Calibri" panose="020F0502020204030204" pitchFamily="34" charset="0"/>
              </a:rPr>
              <a:t>.</a:t>
            </a:r>
          </a:p>
          <a:p>
            <a:pPr>
              <a:buClr>
                <a:schemeClr val="tx1">
                  <a:lumMod val="95000"/>
                  <a:lumOff val="5000"/>
                </a:schemeClr>
              </a:buClr>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Family-friendly titles such as Frozen, Minions, and Beauty and the Beast illustrate the strength of </a:t>
            </a:r>
            <a:r>
              <a:rPr lang="en-US" sz="1600" b="1" i="1" dirty="0">
                <a:latin typeface="Calibri" panose="020F0502020204030204" pitchFamily="34" charset="0"/>
                <a:ea typeface="Calibri" panose="020F0502020204030204" pitchFamily="34" charset="0"/>
                <a:cs typeface="Calibri" panose="020F0502020204030204" pitchFamily="34" charset="0"/>
              </a:rPr>
              <a:t>multi-demographic appeal</a:t>
            </a:r>
            <a:r>
              <a:rPr lang="en-US" sz="1600" i="1" dirty="0">
                <a:latin typeface="Calibri" panose="020F0502020204030204" pitchFamily="34" charset="0"/>
                <a:ea typeface="Calibri" panose="020F0502020204030204" pitchFamily="34" charset="0"/>
                <a:cs typeface="Calibri" panose="020F0502020204030204" pitchFamily="34" charset="0"/>
              </a:rPr>
              <a:t>, driving repeated viewership.</a:t>
            </a:r>
          </a:p>
        </p:txBody>
      </p:sp>
      <p:pic>
        <p:nvPicPr>
          <p:cNvPr id="5" name="Picture 4">
            <a:extLst>
              <a:ext uri="{FF2B5EF4-FFF2-40B4-BE49-F238E27FC236}">
                <a16:creationId xmlns:a16="http://schemas.microsoft.com/office/drawing/2014/main" id="{A079F828-B859-F319-0245-21B294EF39C0}"/>
              </a:ext>
            </a:extLst>
          </p:cNvPr>
          <p:cNvPicPr>
            <a:picLocks noChangeAspect="1"/>
          </p:cNvPicPr>
          <p:nvPr/>
        </p:nvPicPr>
        <p:blipFill>
          <a:blip r:embed="rId2"/>
          <a:stretch>
            <a:fillRect/>
          </a:stretch>
        </p:blipFill>
        <p:spPr>
          <a:xfrm>
            <a:off x="4404426" y="1050609"/>
            <a:ext cx="7685216" cy="4306405"/>
          </a:xfrm>
          <a:prstGeom prst="rect">
            <a:avLst/>
          </a:prstGeom>
        </p:spPr>
      </p:pic>
      <p:sp>
        <p:nvSpPr>
          <p:cNvPr id="6" name="TextBox 5">
            <a:extLst>
              <a:ext uri="{FF2B5EF4-FFF2-40B4-BE49-F238E27FC236}">
                <a16:creationId xmlns:a16="http://schemas.microsoft.com/office/drawing/2014/main" id="{519C6E6B-B301-9AC6-FE4C-45292408E67C}"/>
              </a:ext>
            </a:extLst>
          </p:cNvPr>
          <p:cNvSpPr txBox="1"/>
          <p:nvPr/>
        </p:nvSpPr>
        <p:spPr>
          <a:xfrm>
            <a:off x="5172501" y="5357014"/>
            <a:ext cx="6500884" cy="1015663"/>
          </a:xfrm>
          <a:prstGeom prst="rect">
            <a:avLst/>
          </a:prstGeom>
          <a:noFill/>
        </p:spPr>
        <p:txBody>
          <a:bodyPr wrap="square" rtlCol="0">
            <a:spAutoFit/>
          </a:bodyPr>
          <a:lstStyle/>
          <a:p>
            <a:pPr marL="285750" indent="-285750">
              <a:buFont typeface="Wingdings" panose="05000000000000000000" pitchFamily="2" charset="2"/>
              <a:buChar char="Ø"/>
            </a:pPr>
            <a:r>
              <a:rPr lang="en-US" sz="2000" b="1" i="1" dirty="0">
                <a:solidFill>
                  <a:srgbClr val="1C6294"/>
                </a:solidFill>
                <a:latin typeface="Calibri" panose="020F0502020204030204" pitchFamily="34" charset="0"/>
                <a:ea typeface="Calibri" panose="020F0502020204030204" pitchFamily="34" charset="0"/>
                <a:cs typeface="Calibri" panose="020F0502020204030204" pitchFamily="34" charset="0"/>
              </a:rPr>
              <a:t>This chart provides a benchmark to compare against piracy patterns — identifying whether blockbuster success also correlates with high piracy activity.</a:t>
            </a:r>
          </a:p>
        </p:txBody>
      </p:sp>
      <p:sp>
        <p:nvSpPr>
          <p:cNvPr id="4" name="Slide Number Placeholder 3">
            <a:extLst>
              <a:ext uri="{FF2B5EF4-FFF2-40B4-BE49-F238E27FC236}">
                <a16:creationId xmlns:a16="http://schemas.microsoft.com/office/drawing/2014/main" id="{BB4FF90A-91E0-EC0A-B253-7A83869FCE8F}"/>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12</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0" y="6406719"/>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Top Revenue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Genre Piracy   ○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2949689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85706-74EB-1CAF-5598-4D249B8ABF69}"/>
              </a:ext>
            </a:extLst>
          </p:cNvPr>
          <p:cNvSpPr>
            <a:spLocks noGrp="1"/>
          </p:cNvSpPr>
          <p:nvPr>
            <p:ph type="title"/>
          </p:nvPr>
        </p:nvSpPr>
        <p:spPr>
          <a:xfrm>
            <a:off x="760862" y="-105769"/>
            <a:ext cx="10670275" cy="672152"/>
          </a:xfrm>
        </p:spPr>
        <p:txBody>
          <a:bodyPr>
            <a:normAutofit fontScale="90000"/>
          </a:bodyPr>
          <a:lstStyle/>
          <a:p>
            <a:r>
              <a:rPr lang="en-US" sz="4400" b="1" i="1" dirty="0">
                <a:latin typeface="Calibri" panose="020F0502020204030204" pitchFamily="34" charset="0"/>
                <a:ea typeface="Calibri" panose="020F0502020204030204" pitchFamily="34" charset="0"/>
                <a:cs typeface="Calibri" panose="020F0502020204030204" pitchFamily="34" charset="0"/>
              </a:rPr>
              <a:t>GENRE</a:t>
            </a:r>
            <a:r>
              <a:rPr lang="en-US" b="1" i="1" dirty="0">
                <a:latin typeface="Calibri" panose="020F0502020204030204" pitchFamily="34" charset="0"/>
                <a:ea typeface="Calibri" panose="020F0502020204030204" pitchFamily="34" charset="0"/>
                <a:cs typeface="Calibri" panose="020F0502020204030204" pitchFamily="34" charset="0"/>
              </a:rPr>
              <a:t> </a:t>
            </a:r>
            <a:r>
              <a:rPr lang="en-US" sz="4400" b="1" i="1" dirty="0">
                <a:latin typeface="Calibri" panose="020F0502020204030204" pitchFamily="34" charset="0"/>
                <a:ea typeface="Calibri" panose="020F0502020204030204" pitchFamily="34" charset="0"/>
                <a:cs typeface="Calibri" panose="020F0502020204030204" pitchFamily="34" charset="0"/>
              </a:rPr>
              <a:t>INSIGHTS FOR PIRACY</a:t>
            </a:r>
          </a:p>
        </p:txBody>
      </p:sp>
      <p:pic>
        <p:nvPicPr>
          <p:cNvPr id="5" name="Picture 4">
            <a:extLst>
              <a:ext uri="{FF2B5EF4-FFF2-40B4-BE49-F238E27FC236}">
                <a16:creationId xmlns:a16="http://schemas.microsoft.com/office/drawing/2014/main" id="{2BA47EA6-CB6A-D955-B70A-B2674953A442}"/>
              </a:ext>
            </a:extLst>
          </p:cNvPr>
          <p:cNvPicPr>
            <a:picLocks noChangeAspect="1"/>
          </p:cNvPicPr>
          <p:nvPr/>
        </p:nvPicPr>
        <p:blipFill>
          <a:blip r:embed="rId2"/>
          <a:stretch>
            <a:fillRect/>
          </a:stretch>
        </p:blipFill>
        <p:spPr>
          <a:xfrm>
            <a:off x="4100546" y="1098645"/>
            <a:ext cx="8036862" cy="4517370"/>
          </a:xfrm>
          <a:prstGeom prst="rect">
            <a:avLst/>
          </a:prstGeom>
        </p:spPr>
      </p:pic>
      <p:sp>
        <p:nvSpPr>
          <p:cNvPr id="3" name="Content Placeholder 2">
            <a:extLst>
              <a:ext uri="{FF2B5EF4-FFF2-40B4-BE49-F238E27FC236}">
                <a16:creationId xmlns:a16="http://schemas.microsoft.com/office/drawing/2014/main" id="{D2F2443D-9248-0203-CA3D-9C8A10135BED}"/>
              </a:ext>
            </a:extLst>
          </p:cNvPr>
          <p:cNvSpPr>
            <a:spLocks noGrp="1"/>
          </p:cNvSpPr>
          <p:nvPr>
            <p:ph idx="1"/>
          </p:nvPr>
        </p:nvSpPr>
        <p:spPr>
          <a:xfrm>
            <a:off x="1334186" y="1098645"/>
            <a:ext cx="2828383" cy="5246428"/>
          </a:xfrm>
        </p:spPr>
        <p:txBody>
          <a:bodyPr>
            <a:noAutofit/>
          </a:bodyPr>
          <a:lstStyle/>
          <a:p>
            <a:pPr marL="0" indent="0">
              <a:buClr>
                <a:schemeClr val="tx1">
                  <a:lumMod val="95000"/>
                  <a:lumOff val="5000"/>
                </a:schemeClr>
              </a:buClr>
              <a:buNone/>
            </a:pPr>
            <a:r>
              <a:rPr lang="en-US" sz="2000" b="1" i="1" dirty="0">
                <a:latin typeface="Calibri" panose="020F0502020204030204" pitchFamily="34" charset="0"/>
                <a:ea typeface="Calibri" panose="020F0502020204030204" pitchFamily="34" charset="0"/>
                <a:cs typeface="Calibri" panose="020F0502020204030204" pitchFamily="34" charset="0"/>
              </a:rPr>
              <a:t>Key Insights:</a:t>
            </a:r>
          </a:p>
          <a:p>
            <a:pPr>
              <a:buClr>
                <a:schemeClr val="tx1">
                  <a:lumMod val="95000"/>
                  <a:lumOff val="5000"/>
                </a:schemeClr>
              </a:buClr>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Piracy rose steadily from the early 2000s, driven by expanding internet access.</a:t>
            </a:r>
          </a:p>
          <a:p>
            <a:pPr>
              <a:buClr>
                <a:schemeClr val="tx1">
                  <a:lumMod val="95000"/>
                  <a:lumOff val="5000"/>
                </a:schemeClr>
              </a:buClr>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 A major surge occurs between 2010–2015, aligning with growth in streaming platforms and global media consumption.</a:t>
            </a:r>
          </a:p>
          <a:p>
            <a:pPr>
              <a:buClr>
                <a:schemeClr val="tx1">
                  <a:lumMod val="95000"/>
                  <a:lumOff val="5000"/>
                </a:schemeClr>
              </a:buClr>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Downloads peak around 2014–2015, indicating heightened demand and widespread sharing behavior.</a:t>
            </a:r>
          </a:p>
          <a:p>
            <a:pPr>
              <a:buClr>
                <a:schemeClr val="tx1">
                  <a:lumMod val="95000"/>
                  <a:lumOff val="5000"/>
                </a:schemeClr>
              </a:buClr>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A sharp drop follows, likely due to stronger anti-piracy measures and wider availability of legal streaming options.</a:t>
            </a:r>
          </a:p>
          <a:p>
            <a:pPr>
              <a:buClr>
                <a:schemeClr val="tx1">
                  <a:lumMod val="95000"/>
                  <a:lumOff val="5000"/>
                </a:schemeClr>
              </a:buClr>
              <a:buFont typeface="Arial" panose="020B0604020202020204" pitchFamily="34" charset="0"/>
              <a:buChar char="•"/>
            </a:pPr>
            <a:endParaRPr lang="en-US" sz="1600" i="1"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B9E3443-4DC6-35E7-97E7-1C27B0D8EE65}"/>
              </a:ext>
            </a:extLst>
          </p:cNvPr>
          <p:cNvSpPr txBox="1"/>
          <p:nvPr/>
        </p:nvSpPr>
        <p:spPr>
          <a:xfrm>
            <a:off x="3712192" y="5534091"/>
            <a:ext cx="8479808" cy="707886"/>
          </a:xfrm>
          <a:prstGeom prst="rect">
            <a:avLst/>
          </a:prstGeom>
          <a:noFill/>
        </p:spPr>
        <p:txBody>
          <a:bodyPr wrap="square" rtlCol="0">
            <a:spAutoFit/>
          </a:bodyPr>
          <a:lstStyle/>
          <a:p>
            <a:pPr marL="285750" indent="-285750">
              <a:buFont typeface="Wingdings" panose="05000000000000000000" pitchFamily="2" charset="2"/>
              <a:buChar char="Ø"/>
            </a:pPr>
            <a:r>
              <a:rPr lang="en-US" sz="2000" b="1" i="1" dirty="0">
                <a:solidFill>
                  <a:srgbClr val="1C6294"/>
                </a:solidFill>
                <a:latin typeface="Calibri" panose="020F0502020204030204" pitchFamily="34" charset="0"/>
                <a:ea typeface="Calibri" panose="020F0502020204030204" pitchFamily="34" charset="0"/>
                <a:cs typeface="Calibri" panose="020F0502020204030204" pitchFamily="34" charset="0"/>
              </a:rPr>
              <a:t> Post-2020 shows partial recovery, reflecting pandemic-driven content consumption.</a:t>
            </a:r>
          </a:p>
        </p:txBody>
      </p:sp>
      <p:sp>
        <p:nvSpPr>
          <p:cNvPr id="6" name="Slide Number Placeholder 5">
            <a:extLst>
              <a:ext uri="{FF2B5EF4-FFF2-40B4-BE49-F238E27FC236}">
                <a16:creationId xmlns:a16="http://schemas.microsoft.com/office/drawing/2014/main" id="{9BBEF94C-F085-8C74-1AE7-A9DBCE700771}"/>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13</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1" y="6426694"/>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Genre Piracy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Top Pirated   ○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2547593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80182-9AB0-B26C-D51E-0DD50C7801D0}"/>
              </a:ext>
            </a:extLst>
          </p:cNvPr>
          <p:cNvSpPr>
            <a:spLocks noGrp="1"/>
          </p:cNvSpPr>
          <p:nvPr>
            <p:ph type="title"/>
          </p:nvPr>
        </p:nvSpPr>
        <p:spPr>
          <a:xfrm>
            <a:off x="597090" y="-164712"/>
            <a:ext cx="10997820" cy="829100"/>
          </a:xfrm>
        </p:spPr>
        <p:txBody>
          <a:bodyPr>
            <a:normAutofit/>
          </a:bodyPr>
          <a:lstStyle/>
          <a:p>
            <a:r>
              <a:rPr lang="en-US" b="1" i="1" dirty="0">
                <a:latin typeface="Calibri" panose="020F0502020204030204" pitchFamily="34" charset="0"/>
                <a:ea typeface="Calibri" panose="020F0502020204030204" pitchFamily="34" charset="0"/>
                <a:cs typeface="Calibri" panose="020F0502020204030204" pitchFamily="34" charset="0"/>
              </a:rPr>
              <a:t>TOP 20 MOST PIRATED MOVIES</a:t>
            </a:r>
          </a:p>
        </p:txBody>
      </p:sp>
      <p:pic>
        <p:nvPicPr>
          <p:cNvPr id="6" name="Picture 5">
            <a:extLst>
              <a:ext uri="{FF2B5EF4-FFF2-40B4-BE49-F238E27FC236}">
                <a16:creationId xmlns:a16="http://schemas.microsoft.com/office/drawing/2014/main" id="{064283A9-708E-B9FB-60D9-195A453AA55F}"/>
              </a:ext>
            </a:extLst>
          </p:cNvPr>
          <p:cNvPicPr>
            <a:picLocks noChangeAspect="1"/>
          </p:cNvPicPr>
          <p:nvPr/>
        </p:nvPicPr>
        <p:blipFill>
          <a:blip r:embed="rId2"/>
          <a:stretch>
            <a:fillRect/>
          </a:stretch>
        </p:blipFill>
        <p:spPr>
          <a:xfrm>
            <a:off x="5071285" y="2091172"/>
            <a:ext cx="7049098" cy="3214039"/>
          </a:xfrm>
          <a:prstGeom prst="rect">
            <a:avLst/>
          </a:prstGeom>
        </p:spPr>
      </p:pic>
      <p:sp>
        <p:nvSpPr>
          <p:cNvPr id="7" name="TextBox 6">
            <a:extLst>
              <a:ext uri="{FF2B5EF4-FFF2-40B4-BE49-F238E27FC236}">
                <a16:creationId xmlns:a16="http://schemas.microsoft.com/office/drawing/2014/main" id="{919E4A7B-9466-9EEC-4087-2E618A04E52B}"/>
              </a:ext>
            </a:extLst>
          </p:cNvPr>
          <p:cNvSpPr txBox="1"/>
          <p:nvPr/>
        </p:nvSpPr>
        <p:spPr>
          <a:xfrm>
            <a:off x="1390969" y="900726"/>
            <a:ext cx="10729414" cy="954107"/>
          </a:xfrm>
          <a:prstGeom prst="rect">
            <a:avLst/>
          </a:prstGeom>
          <a:noFill/>
        </p:spPr>
        <p:txBody>
          <a:bodyPr wrap="square" rtlCol="0">
            <a:spAutoFit/>
          </a:bodyPr>
          <a:lstStyle/>
          <a:p>
            <a:pPr marL="342900" indent="-342900">
              <a:buFont typeface="Wingdings" panose="05000000000000000000" pitchFamily="2" charset="2"/>
              <a:buChar char="Ø"/>
            </a:pPr>
            <a:r>
              <a:rPr lang="en-US" sz="2800" b="1" i="1" dirty="0">
                <a:solidFill>
                  <a:srgbClr val="1C6294"/>
                </a:solidFill>
                <a:latin typeface="Calibri" panose="020F0502020204030204" pitchFamily="34" charset="0"/>
                <a:ea typeface="Calibri" panose="020F0502020204030204" pitchFamily="34" charset="0"/>
                <a:cs typeface="Calibri" panose="020F0502020204030204" pitchFamily="34" charset="0"/>
              </a:rPr>
              <a:t>This table summarizes the top 20 most pirated movies.</a:t>
            </a:r>
          </a:p>
          <a:p>
            <a:pPr marL="342900" indent="-342900">
              <a:buFont typeface="Wingdings" panose="05000000000000000000" pitchFamily="2" charset="2"/>
              <a:buChar char="Ø"/>
            </a:pPr>
            <a:endParaRPr lang="en-US" sz="2800" b="1" i="1" dirty="0">
              <a:solidFill>
                <a:srgbClr val="1C6294"/>
              </a:solidFill>
            </a:endParaRPr>
          </a:p>
        </p:txBody>
      </p:sp>
      <p:sp>
        <p:nvSpPr>
          <p:cNvPr id="8" name="TextBox 7">
            <a:extLst>
              <a:ext uri="{FF2B5EF4-FFF2-40B4-BE49-F238E27FC236}">
                <a16:creationId xmlns:a16="http://schemas.microsoft.com/office/drawing/2014/main" id="{3C803D26-9150-DCB7-2D4A-64085EF3FC4A}"/>
              </a:ext>
            </a:extLst>
          </p:cNvPr>
          <p:cNvSpPr txBox="1"/>
          <p:nvPr/>
        </p:nvSpPr>
        <p:spPr>
          <a:xfrm>
            <a:off x="5071285" y="5377889"/>
            <a:ext cx="7646153" cy="646331"/>
          </a:xfrm>
          <a:prstGeom prst="rect">
            <a:avLst/>
          </a:prstGeom>
          <a:noFill/>
        </p:spPr>
        <p:txBody>
          <a:bodyPr wrap="square" rtlCol="0">
            <a:spAutoFit/>
          </a:bodyPr>
          <a:lstStyle/>
          <a:p>
            <a:pPr marL="342900" indent="-342900">
              <a:buFont typeface="Wingdings" panose="05000000000000000000" pitchFamily="2" charset="2"/>
              <a:buChar char="Ø"/>
            </a:pPr>
            <a:r>
              <a:rPr lang="en-US" b="1" i="1" dirty="0">
                <a:solidFill>
                  <a:srgbClr val="1C6294"/>
                </a:solidFill>
                <a:latin typeface="Calibri" panose="020F0502020204030204" pitchFamily="34" charset="0"/>
                <a:ea typeface="Calibri" panose="020F0502020204030204" pitchFamily="34" charset="0"/>
                <a:cs typeface="Calibri" panose="020F0502020204030204" pitchFamily="34" charset="0"/>
              </a:rPr>
              <a:t>This gives us a starting point for piracy behavior at a granular level.</a:t>
            </a:r>
          </a:p>
          <a:p>
            <a:pPr marL="342900" indent="-342900">
              <a:buFont typeface="Wingdings" panose="05000000000000000000" pitchFamily="2" charset="2"/>
              <a:buChar char="Ø"/>
            </a:pPr>
            <a:endParaRPr lang="en-US" b="1" i="1" dirty="0">
              <a:solidFill>
                <a:srgbClr val="1C6294"/>
              </a:solidFill>
            </a:endParaRPr>
          </a:p>
        </p:txBody>
      </p:sp>
      <p:sp>
        <p:nvSpPr>
          <p:cNvPr id="9" name="Rectangle 1">
            <a:extLst>
              <a:ext uri="{FF2B5EF4-FFF2-40B4-BE49-F238E27FC236}">
                <a16:creationId xmlns:a16="http://schemas.microsoft.com/office/drawing/2014/main" id="{1BB79FD2-F67B-E4CC-ED45-546F8D6459B6}"/>
              </a:ext>
            </a:extLst>
          </p:cNvPr>
          <p:cNvSpPr>
            <a:spLocks noChangeArrowheads="1"/>
          </p:cNvSpPr>
          <p:nvPr/>
        </p:nvSpPr>
        <p:spPr bwMode="auto">
          <a:xfrm rot="10800000" flipV="1">
            <a:off x="1219199" y="1552789"/>
            <a:ext cx="3928268"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i="1" dirty="0">
                <a:latin typeface="Calibri" panose="020F0502020204030204" pitchFamily="34" charset="0"/>
                <a:ea typeface="Calibri" panose="020F0502020204030204" pitchFamily="34" charset="0"/>
                <a:cs typeface="Calibri" panose="020F0502020204030204" pitchFamily="34" charset="0"/>
              </a:rPr>
              <a:t>Key Insights:</a:t>
            </a:r>
          </a:p>
          <a:p>
            <a:pPr marL="285750" indent="-285750">
              <a:buFont typeface="Wingdings" panose="05000000000000000000" pitchFamily="2" charset="2"/>
              <a:buChar char="Ø"/>
            </a:pPr>
            <a:endParaRPr lang="en-US" sz="1600" b="1" i="1" dirty="0">
              <a:latin typeface="Calibri" panose="020F0502020204030204" pitchFamily="34" charset="0"/>
              <a:ea typeface="Calibri" panose="020F0502020204030204" pitchFamily="34" charset="0"/>
              <a:cs typeface="Calibri" panose="020F0502020204030204" pitchFamily="34" charset="0"/>
            </a:endParaRPr>
          </a:p>
          <a:p>
            <a:r>
              <a:rPr lang="en-US" sz="1600" b="1" i="1" dirty="0">
                <a:latin typeface="Calibri" panose="020F0502020204030204" pitchFamily="34" charset="0"/>
                <a:ea typeface="Calibri" panose="020F0502020204030204" pitchFamily="34" charset="0"/>
                <a:cs typeface="Calibri" panose="020F0502020204030204" pitchFamily="34" charset="0"/>
              </a:rPr>
              <a:t>Only films with valid IMDb ratings</a:t>
            </a:r>
            <a:r>
              <a:rPr lang="en-US" sz="1600" i="1" dirty="0">
                <a:latin typeface="Calibri" panose="020F0502020204030204" pitchFamily="34" charset="0"/>
                <a:ea typeface="Calibri" panose="020F0502020204030204" pitchFamily="34" charset="0"/>
                <a:cs typeface="Calibri" panose="020F0502020204030204" pitchFamily="34" charset="0"/>
              </a:rPr>
              <a:t> are included to maintain analytical accuracy.</a:t>
            </a:r>
          </a:p>
          <a:p>
            <a:r>
              <a:rPr lang="en-US" sz="1600" i="1" dirty="0">
                <a:latin typeface="Calibri" panose="020F0502020204030204" pitchFamily="34" charset="0"/>
                <a:ea typeface="Calibri" panose="020F0502020204030204" pitchFamily="34" charset="0"/>
                <a:cs typeface="Calibri" panose="020F0502020204030204" pitchFamily="34" charset="0"/>
              </a:rPr>
              <a:t>The table reflects </a:t>
            </a:r>
            <a:r>
              <a:rPr lang="en-US" sz="1600" b="1" i="1" dirty="0">
                <a:latin typeface="Calibri" panose="020F0502020204030204" pitchFamily="34" charset="0"/>
                <a:ea typeface="Calibri" panose="020F0502020204030204" pitchFamily="34" charset="0"/>
                <a:cs typeface="Calibri" panose="020F0502020204030204" pitchFamily="34" charset="0"/>
              </a:rPr>
              <a:t>cleaned and corrected data</a:t>
            </a:r>
            <a:r>
              <a:rPr lang="en-US" sz="1600" i="1" dirty="0">
                <a:latin typeface="Calibri" panose="020F0502020204030204" pitchFamily="34" charset="0"/>
                <a:ea typeface="Calibri" panose="020F0502020204030204" pitchFamily="34" charset="0"/>
                <a:cs typeface="Calibri" panose="020F0502020204030204" pitchFamily="34" charset="0"/>
              </a:rPr>
              <a:t>, replacing the earlier inaccurate version.</a:t>
            </a:r>
          </a:p>
          <a:p>
            <a:r>
              <a:rPr lang="en-US" sz="1600" i="1" dirty="0">
                <a:latin typeface="Calibri" panose="020F0502020204030204" pitchFamily="34" charset="0"/>
                <a:ea typeface="Calibri" panose="020F0502020204030204" pitchFamily="34" charset="0"/>
                <a:cs typeface="Calibri" panose="020F0502020204030204" pitchFamily="34" charset="0"/>
              </a:rPr>
              <a:t>Many of these titles show </a:t>
            </a:r>
            <a:r>
              <a:rPr lang="en-US" sz="1600" b="1" i="1" dirty="0">
                <a:latin typeface="Calibri" panose="020F0502020204030204" pitchFamily="34" charset="0"/>
                <a:ea typeface="Calibri" panose="020F0502020204030204" pitchFamily="34" charset="0"/>
                <a:cs typeface="Calibri" panose="020F0502020204030204" pitchFamily="34" charset="0"/>
              </a:rPr>
              <a:t>exceptionally high download volumes</a:t>
            </a:r>
            <a:r>
              <a:rPr lang="en-US" sz="1600" i="1" dirty="0">
                <a:latin typeface="Calibri" panose="020F0502020204030204" pitchFamily="34" charset="0"/>
                <a:ea typeface="Calibri" panose="020F0502020204030204" pitchFamily="34" charset="0"/>
                <a:cs typeface="Calibri" panose="020F0502020204030204" pitchFamily="34" charset="0"/>
              </a:rPr>
              <a:t>, indicating sustained global interest.</a:t>
            </a:r>
          </a:p>
          <a:p>
            <a:endParaRPr lang="en-US" sz="1600" i="1" dirty="0">
              <a:latin typeface="Calibri" panose="020F0502020204030204" pitchFamily="34" charset="0"/>
              <a:ea typeface="Calibri" panose="020F0502020204030204" pitchFamily="34" charset="0"/>
              <a:cs typeface="Calibri" panose="020F0502020204030204" pitchFamily="34" charset="0"/>
            </a:endParaRPr>
          </a:p>
          <a:p>
            <a:r>
              <a:rPr lang="en-US" sz="1600" i="1" dirty="0">
                <a:latin typeface="Calibri" panose="020F0502020204030204" pitchFamily="34" charset="0"/>
                <a:ea typeface="Calibri" panose="020F0502020204030204" pitchFamily="34" charset="0"/>
                <a:cs typeface="Calibri" panose="020F0502020204030204" pitchFamily="34" charset="0"/>
              </a:rPr>
              <a:t>Several movies combine strong critical reception with mass piracy—raising questions such as:</a:t>
            </a:r>
          </a:p>
          <a:p>
            <a:pPr marL="285750" indent="-285750">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Is piracy volume driven by hype, nostalgia, or genre popularity?</a:t>
            </a:r>
          </a:p>
          <a:p>
            <a:pPr marL="285750" indent="-285750">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Do highly rated films attract disproportionately more piracy?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1"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7E30AB0B-0139-4AD6-1F96-FF6CCC739D98}"/>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14</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p:cNvSpPr txBox="1"/>
          <p:nvPr/>
        </p:nvSpPr>
        <p:spPr>
          <a:xfrm>
            <a:off x="0" y="6336883"/>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 Genre Piracy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Top Pirated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Ratings vs Piracy   ○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471774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9D347-2C0B-74E3-1E42-BE738ABA11BB}"/>
              </a:ext>
            </a:extLst>
          </p:cNvPr>
          <p:cNvSpPr>
            <a:spLocks noGrp="1"/>
          </p:cNvSpPr>
          <p:nvPr>
            <p:ph type="title"/>
          </p:nvPr>
        </p:nvSpPr>
        <p:spPr>
          <a:xfrm>
            <a:off x="573206" y="-226317"/>
            <a:ext cx="11045588" cy="883692"/>
          </a:xfrm>
        </p:spPr>
        <p:txBody>
          <a:bodyPr>
            <a:normAutofit/>
          </a:bodyPr>
          <a:lstStyle/>
          <a:p>
            <a:r>
              <a:rPr lang="en-US" b="1" i="1" dirty="0">
                <a:latin typeface="Calibri" panose="020F0502020204030204" pitchFamily="34" charset="0"/>
                <a:ea typeface="Calibri" panose="020F0502020204030204" pitchFamily="34" charset="0"/>
                <a:cs typeface="Calibri" panose="020F0502020204030204" pitchFamily="34" charset="0"/>
              </a:rPr>
              <a:t>RATINGS VS PIRACY DOWNLOADS</a:t>
            </a:r>
          </a:p>
        </p:txBody>
      </p:sp>
      <p:sp>
        <p:nvSpPr>
          <p:cNvPr id="10" name="TextBox 9">
            <a:extLst>
              <a:ext uri="{FF2B5EF4-FFF2-40B4-BE49-F238E27FC236}">
                <a16:creationId xmlns:a16="http://schemas.microsoft.com/office/drawing/2014/main" id="{C0CCA7D3-7351-AF75-457E-B0B2220BB667}"/>
              </a:ext>
            </a:extLst>
          </p:cNvPr>
          <p:cNvSpPr txBox="1"/>
          <p:nvPr/>
        </p:nvSpPr>
        <p:spPr>
          <a:xfrm>
            <a:off x="2519152" y="5732172"/>
            <a:ext cx="10605332" cy="338554"/>
          </a:xfrm>
          <a:prstGeom prst="rect">
            <a:avLst/>
          </a:prstGeom>
          <a:noFill/>
        </p:spPr>
        <p:txBody>
          <a:bodyPr wrap="square" rtlCol="0">
            <a:spAutoFit/>
          </a:bodyPr>
          <a:lstStyle/>
          <a:p>
            <a:pPr marL="342900" indent="-342900">
              <a:buFont typeface="Wingdings" panose="05000000000000000000" pitchFamily="2" charset="2"/>
              <a:buChar char="Ø"/>
            </a:pPr>
            <a:r>
              <a:rPr lang="en-US" sz="1600" b="1" i="1" dirty="0">
                <a:solidFill>
                  <a:srgbClr val="1C6294"/>
                </a:solidFill>
                <a:latin typeface="Calibri" panose="020F0502020204030204" pitchFamily="34" charset="0"/>
                <a:ea typeface="Calibri" panose="020F0502020204030204" pitchFamily="34" charset="0"/>
                <a:cs typeface="Calibri" panose="020F0502020204030204" pitchFamily="34" charset="0"/>
              </a:rPr>
              <a:t> NLP-derived genre families as points to see which ones are both high-rated and heavily pirated.</a:t>
            </a:r>
            <a:endParaRPr lang="en-US" sz="1600" dirty="0">
              <a:solidFill>
                <a:srgbClr val="1C6294"/>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3AF3955-DC93-650F-8F47-649BCF3BF8D8}"/>
              </a:ext>
            </a:extLst>
          </p:cNvPr>
          <p:cNvSpPr txBox="1"/>
          <p:nvPr/>
        </p:nvSpPr>
        <p:spPr>
          <a:xfrm>
            <a:off x="1276067" y="1125828"/>
            <a:ext cx="4067032" cy="4893647"/>
          </a:xfrm>
          <a:prstGeom prst="rect">
            <a:avLst/>
          </a:prstGeom>
          <a:noFill/>
        </p:spPr>
        <p:txBody>
          <a:bodyPr wrap="square" rtlCol="0">
            <a:spAutoFit/>
          </a:bodyPr>
          <a:lstStyle/>
          <a:p>
            <a:endParaRPr lang="en-US" sz="16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Movies with </a:t>
            </a:r>
            <a:r>
              <a:rPr lang="en-US" sz="1600" b="1" i="1" dirty="0">
                <a:latin typeface="Calibri" panose="020F0502020204030204" pitchFamily="34" charset="0"/>
                <a:ea typeface="Calibri" panose="020F0502020204030204" pitchFamily="34" charset="0"/>
                <a:cs typeface="Calibri" panose="020F0502020204030204" pitchFamily="34" charset="0"/>
              </a:rPr>
              <a:t>higher IMDb ratings</a:t>
            </a:r>
            <a:r>
              <a:rPr lang="en-US" sz="1600" i="1" dirty="0">
                <a:latin typeface="Calibri" panose="020F0502020204030204" pitchFamily="34" charset="0"/>
                <a:ea typeface="Calibri" panose="020F0502020204030204" pitchFamily="34" charset="0"/>
                <a:cs typeface="Calibri" panose="020F0502020204030204" pitchFamily="34" charset="0"/>
              </a:rPr>
              <a:t> tend to     generate </a:t>
            </a:r>
            <a:r>
              <a:rPr lang="en-US" sz="1600" b="1" i="1" dirty="0">
                <a:latin typeface="Calibri" panose="020F0502020204030204" pitchFamily="34" charset="0"/>
                <a:ea typeface="Calibri" panose="020F0502020204030204" pitchFamily="34" charset="0"/>
                <a:cs typeface="Calibri" panose="020F0502020204030204" pitchFamily="34" charset="0"/>
              </a:rPr>
              <a:t>more piracy downloads</a:t>
            </a:r>
            <a:r>
              <a:rPr lang="en-US" sz="1600" i="1" dirty="0">
                <a:latin typeface="Calibri" panose="020F0502020204030204" pitchFamily="34" charset="0"/>
                <a:ea typeface="Calibri" panose="020F0502020204030204" pitchFamily="34" charset="0"/>
                <a:cs typeface="Calibri" panose="020F0502020204030204" pitchFamily="34" charset="0"/>
              </a:rPr>
              <a:t>.</a:t>
            </a:r>
          </a:p>
          <a:p>
            <a:endParaRPr lang="en-US" sz="1600" i="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1600" i="1" dirty="0">
                <a:latin typeface="Calibri" panose="020F0502020204030204" pitchFamily="34" charset="0"/>
                <a:ea typeface="Calibri" panose="020F0502020204030204" pitchFamily="34" charset="0"/>
                <a:cs typeface="Calibri" panose="020F0502020204030204" pitchFamily="34" charset="0"/>
              </a:rPr>
              <a:t>This suggests piracy is not </a:t>
            </a:r>
          </a:p>
          <a:p>
            <a:r>
              <a:rPr lang="en-US" sz="1600" i="1" dirty="0">
                <a:latin typeface="Calibri" panose="020F0502020204030204" pitchFamily="34" charset="0"/>
                <a:ea typeface="Calibri" panose="020F0502020204030204" pitchFamily="34" charset="0"/>
                <a:cs typeface="Calibri" panose="020F0502020204030204" pitchFamily="34" charset="0"/>
              </a:rPr>
              <a:t>      </a:t>
            </a:r>
            <a:r>
              <a:rPr lang="en-US" sz="1600" b="1" i="1" dirty="0">
                <a:latin typeface="Calibri" panose="020F0502020204030204" pitchFamily="34" charset="0"/>
                <a:ea typeface="Calibri" panose="020F0502020204030204" pitchFamily="34" charset="0"/>
                <a:cs typeface="Calibri" panose="020F0502020204030204" pitchFamily="34" charset="0"/>
              </a:rPr>
              <a:t>random — viewers </a:t>
            </a:r>
            <a:r>
              <a:rPr lang="en-US" sz="1600" i="1" dirty="0">
                <a:latin typeface="Calibri" panose="020F0502020204030204" pitchFamily="34" charset="0"/>
                <a:ea typeface="Calibri" panose="020F0502020204030204" pitchFamily="34" charset="0"/>
                <a:cs typeface="Calibri" panose="020F0502020204030204" pitchFamily="34" charset="0"/>
              </a:rPr>
              <a:t>often pirate films</a:t>
            </a:r>
          </a:p>
          <a:p>
            <a:r>
              <a:rPr lang="en-US" sz="1600" i="1" dirty="0">
                <a:latin typeface="Calibri" panose="020F0502020204030204" pitchFamily="34" charset="0"/>
                <a:ea typeface="Calibri" panose="020F0502020204030204" pitchFamily="34" charset="0"/>
                <a:cs typeface="Calibri" panose="020F0502020204030204" pitchFamily="34" charset="0"/>
              </a:rPr>
              <a:t>      that are already </a:t>
            </a:r>
            <a:r>
              <a:rPr lang="en-US" sz="1600" b="1" i="1" dirty="0">
                <a:latin typeface="Calibri" panose="020F0502020204030204" pitchFamily="34" charset="0"/>
                <a:ea typeface="Calibri" panose="020F0502020204030204" pitchFamily="34" charset="0"/>
                <a:cs typeface="Calibri" panose="020F0502020204030204" pitchFamily="34" charset="0"/>
              </a:rPr>
              <a:t>perceived as high-quality.</a:t>
            </a:r>
          </a:p>
          <a:p>
            <a:endParaRPr lang="en-US" sz="1600" i="1" dirty="0">
              <a:latin typeface="Calibri" panose="020F0502020204030204" pitchFamily="34" charset="0"/>
              <a:ea typeface="Calibri" panose="020F0502020204030204" pitchFamily="34" charset="0"/>
              <a:cs typeface="Calibri" panose="020F0502020204030204" pitchFamily="34" charset="0"/>
            </a:endParaRPr>
          </a:p>
          <a:p>
            <a:r>
              <a:rPr lang="en-US" sz="2000" b="1" i="1" dirty="0">
                <a:latin typeface="Calibri" panose="020F0502020204030204" pitchFamily="34" charset="0"/>
                <a:ea typeface="Calibri" panose="020F0502020204030204" pitchFamily="34" charset="0"/>
                <a:cs typeface="Calibri" panose="020F0502020204030204" pitchFamily="34" charset="0"/>
              </a:rPr>
              <a:t>Key Insights:</a:t>
            </a:r>
          </a:p>
          <a:p>
            <a:endParaRPr lang="en-US" sz="2000" b="1"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600" i="1" dirty="0">
                <a:latin typeface="Calibri" panose="020F0502020204030204" pitchFamily="34" charset="0"/>
                <a:ea typeface="Calibri" panose="020F0502020204030204" pitchFamily="34" charset="0"/>
                <a:cs typeface="Calibri" panose="020F0502020204030204" pitchFamily="34" charset="0"/>
              </a:rPr>
              <a:t>Action and Thriller titles generate the </a:t>
            </a:r>
          </a:p>
          <a:p>
            <a:r>
              <a:rPr lang="en-US" sz="1600" i="1" dirty="0">
                <a:latin typeface="Calibri" panose="020F0502020204030204" pitchFamily="34" charset="0"/>
                <a:ea typeface="Calibri" panose="020F0502020204030204" pitchFamily="34" charset="0"/>
                <a:cs typeface="Calibri" panose="020F0502020204030204" pitchFamily="34" charset="0"/>
              </a:rPr>
              <a:t>     most clusters</a:t>
            </a:r>
          </a:p>
          <a:p>
            <a:pPr marL="285750" indent="-285750">
              <a:buFont typeface="Wingdings" panose="05000000000000000000" pitchFamily="2" charset="2"/>
              <a:buChar char="Ø"/>
            </a:pPr>
            <a:endParaRPr lang="en-US" sz="16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600" i="1" dirty="0">
                <a:latin typeface="Calibri" panose="020F0502020204030204" pitchFamily="34" charset="0"/>
                <a:ea typeface="Calibri" panose="020F0502020204030204" pitchFamily="34" charset="0"/>
                <a:cs typeface="Calibri" panose="020F0502020204030204" pitchFamily="34" charset="0"/>
              </a:rPr>
              <a:t>Some mid-budget films show </a:t>
            </a:r>
          </a:p>
          <a:p>
            <a:r>
              <a:rPr lang="en-US" sz="1600" i="1" dirty="0">
                <a:latin typeface="Calibri" panose="020F0502020204030204" pitchFamily="34" charset="0"/>
                <a:ea typeface="Calibri" panose="020F0502020204030204" pitchFamily="34" charset="0"/>
                <a:cs typeface="Calibri" panose="020F0502020204030204" pitchFamily="34" charset="0"/>
              </a:rPr>
              <a:t>     abnormally high piracy (viral hits)</a:t>
            </a:r>
          </a:p>
          <a:p>
            <a:pPr marL="285750" indent="-285750">
              <a:buFont typeface="Wingdings" panose="05000000000000000000" pitchFamily="2" charset="2"/>
              <a:buChar char="Ø"/>
            </a:pPr>
            <a:endParaRPr lang="en-US" sz="16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600" i="1" dirty="0">
                <a:latin typeface="Calibri" panose="020F0502020204030204" pitchFamily="34" charset="0"/>
                <a:ea typeface="Calibri" panose="020F0502020204030204" pitchFamily="34" charset="0"/>
                <a:cs typeface="Calibri" panose="020F0502020204030204" pitchFamily="34" charset="0"/>
              </a:rPr>
              <a:t>Outliers indicate cult films that attract</a:t>
            </a:r>
          </a:p>
          <a:p>
            <a:r>
              <a:rPr lang="en-US" sz="1600" i="1" dirty="0">
                <a:latin typeface="Calibri" panose="020F0502020204030204" pitchFamily="34" charset="0"/>
                <a:ea typeface="Calibri" panose="020F0502020204030204" pitchFamily="34" charset="0"/>
                <a:cs typeface="Calibri" panose="020F0502020204030204" pitchFamily="34" charset="0"/>
              </a:rPr>
              <a:t>      massive global attention.</a:t>
            </a:r>
          </a:p>
          <a:p>
            <a:endParaRPr lang="en-US" sz="1600" i="1" dirty="0">
              <a:latin typeface="Calibri" panose="020F050202020403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DC58FD54-CA31-4509-FFD8-A90948CA2C7E}"/>
              </a:ext>
            </a:extLst>
          </p:cNvPr>
          <p:cNvPicPr>
            <a:picLocks noChangeAspect="1"/>
          </p:cNvPicPr>
          <p:nvPr/>
        </p:nvPicPr>
        <p:blipFill>
          <a:blip r:embed="rId3"/>
          <a:stretch>
            <a:fillRect/>
          </a:stretch>
        </p:blipFill>
        <p:spPr>
          <a:xfrm>
            <a:off x="5206621" y="1605575"/>
            <a:ext cx="6945667" cy="3580574"/>
          </a:xfrm>
          <a:prstGeom prst="rect">
            <a:avLst/>
          </a:prstGeom>
        </p:spPr>
      </p:pic>
      <p:sp>
        <p:nvSpPr>
          <p:cNvPr id="14" name="TextBox 13">
            <a:extLst>
              <a:ext uri="{FF2B5EF4-FFF2-40B4-BE49-F238E27FC236}">
                <a16:creationId xmlns:a16="http://schemas.microsoft.com/office/drawing/2014/main" id="{061794B5-6B26-1846-CD99-0F4F4B26528F}"/>
              </a:ext>
            </a:extLst>
          </p:cNvPr>
          <p:cNvSpPr txBox="1"/>
          <p:nvPr/>
        </p:nvSpPr>
        <p:spPr>
          <a:xfrm>
            <a:off x="1357954" y="668669"/>
            <a:ext cx="8379724" cy="954107"/>
          </a:xfrm>
          <a:prstGeom prst="rect">
            <a:avLst/>
          </a:prstGeom>
          <a:noFill/>
        </p:spPr>
        <p:txBody>
          <a:bodyPr wrap="square" rtlCol="0">
            <a:spAutoFit/>
          </a:bodyPr>
          <a:lstStyle/>
          <a:p>
            <a:pPr marL="285750" indent="-285750">
              <a:buFont typeface="Wingdings" panose="05000000000000000000" pitchFamily="2" charset="2"/>
              <a:buChar char="Ø"/>
            </a:pPr>
            <a:r>
              <a:rPr lang="en-US" sz="2800" b="1" i="1" dirty="0">
                <a:solidFill>
                  <a:srgbClr val="1C6294"/>
                </a:solidFill>
                <a:latin typeface="Calibri" panose="020F0502020204030204" pitchFamily="34" charset="0"/>
                <a:ea typeface="Calibri" panose="020F0502020204030204" pitchFamily="34" charset="0"/>
                <a:cs typeface="Calibri" panose="020F0502020204030204" pitchFamily="34" charset="0"/>
              </a:rPr>
              <a:t>This scatter plot reveals a significant trend:</a:t>
            </a:r>
          </a:p>
          <a:p>
            <a:endParaRPr lang="en-US" sz="2800" dirty="0">
              <a:solidFill>
                <a:srgbClr val="1C6294"/>
              </a:solidFill>
            </a:endParaRPr>
          </a:p>
        </p:txBody>
      </p:sp>
      <p:sp>
        <p:nvSpPr>
          <p:cNvPr id="3" name="Slide Number Placeholder 2">
            <a:extLst>
              <a:ext uri="{FF2B5EF4-FFF2-40B4-BE49-F238E27FC236}">
                <a16:creationId xmlns:a16="http://schemas.microsoft.com/office/drawing/2014/main" id="{57CF9D04-B913-26C6-3EBE-EE0DD517016B}"/>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15</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p:cNvSpPr txBox="1"/>
          <p:nvPr/>
        </p:nvSpPr>
        <p:spPr>
          <a:xfrm>
            <a:off x="0" y="6323598"/>
            <a:ext cx="12192001"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 Genre Piracy   ○ Top Pirated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Ratings vs Piracy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Ratings Dist.   ○ Storyline NLP   ○ Story vs Downloads   ○ Keywords   ○ NLP Extraction   ○ Insights   ○ Business Value   ○ Conclusion   ○ Enhancements   ○ Thank You</a:t>
            </a:r>
          </a:p>
        </p:txBody>
      </p:sp>
    </p:spTree>
    <p:extLst>
      <p:ext uri="{BB962C8B-B14F-4D97-AF65-F5344CB8AC3E}">
        <p14:creationId xmlns:p14="http://schemas.microsoft.com/office/powerpoint/2010/main" val="584677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B1A10-45D3-FD58-C26E-6148CE858AF9}"/>
              </a:ext>
            </a:extLst>
          </p:cNvPr>
          <p:cNvSpPr>
            <a:spLocks noGrp="1"/>
          </p:cNvSpPr>
          <p:nvPr>
            <p:ph type="title"/>
          </p:nvPr>
        </p:nvSpPr>
        <p:spPr>
          <a:xfrm>
            <a:off x="0" y="-191069"/>
            <a:ext cx="12192000" cy="849573"/>
          </a:xfrm>
        </p:spPr>
        <p:txBody>
          <a:bodyPr>
            <a:normAutofit/>
          </a:bodyPr>
          <a:lstStyle/>
          <a:p>
            <a:r>
              <a:rPr lang="en-US" b="1" i="1" dirty="0">
                <a:latin typeface="Calibri" panose="020F0502020204030204" pitchFamily="34" charset="0"/>
                <a:ea typeface="Calibri" panose="020F0502020204030204" pitchFamily="34" charset="0"/>
                <a:cs typeface="Calibri" panose="020F0502020204030204" pitchFamily="34" charset="0"/>
              </a:rPr>
              <a:t>RATINGS DISTRIBUTION</a:t>
            </a:r>
          </a:p>
        </p:txBody>
      </p:sp>
      <p:pic>
        <p:nvPicPr>
          <p:cNvPr id="9" name="Picture 8" descr="A graph of a number of bars&#10;&#10;AI-generated content may be incorrect.">
            <a:extLst>
              <a:ext uri="{FF2B5EF4-FFF2-40B4-BE49-F238E27FC236}">
                <a16:creationId xmlns:a16="http://schemas.microsoft.com/office/drawing/2014/main" id="{950B09BF-21B9-6487-AECE-741B80461B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3983" y="1169323"/>
            <a:ext cx="7881582" cy="4422466"/>
          </a:xfrm>
          <a:prstGeom prst="rect">
            <a:avLst/>
          </a:prstGeom>
        </p:spPr>
      </p:pic>
      <p:sp>
        <p:nvSpPr>
          <p:cNvPr id="3" name="TextBox 2">
            <a:extLst>
              <a:ext uri="{FF2B5EF4-FFF2-40B4-BE49-F238E27FC236}">
                <a16:creationId xmlns:a16="http://schemas.microsoft.com/office/drawing/2014/main" id="{80067A4D-925F-3A28-C26E-F296F786E405}"/>
              </a:ext>
            </a:extLst>
          </p:cNvPr>
          <p:cNvSpPr txBox="1"/>
          <p:nvPr/>
        </p:nvSpPr>
        <p:spPr>
          <a:xfrm>
            <a:off x="1197620" y="1536174"/>
            <a:ext cx="3151266" cy="3785652"/>
          </a:xfrm>
          <a:prstGeom prst="rect">
            <a:avLst/>
          </a:prstGeom>
          <a:noFill/>
        </p:spPr>
        <p:txBody>
          <a:bodyPr wrap="square" rtlCol="0">
            <a:spAutoFit/>
          </a:bodyPr>
          <a:lstStyle/>
          <a:p>
            <a:r>
              <a:rPr lang="en-US" sz="2400" b="1" i="1" dirty="0">
                <a:latin typeface="Calibri" panose="020F0502020204030204" pitchFamily="34" charset="0"/>
                <a:ea typeface="Calibri" panose="020F0502020204030204" pitchFamily="34" charset="0"/>
                <a:cs typeface="Calibri" panose="020F0502020204030204" pitchFamily="34" charset="0"/>
              </a:rPr>
              <a:t>Key Insights:</a:t>
            </a:r>
          </a:p>
          <a:p>
            <a:endParaRPr lang="en-US" sz="2400" b="1"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User ratings cluster heavily between 5.0 and 7.5</a:t>
            </a:r>
            <a:r>
              <a:rPr lang="en-US" sz="1600" i="1" dirty="0">
                <a:latin typeface="Calibri" panose="020F0502020204030204" pitchFamily="34" charset="0"/>
                <a:ea typeface="Calibri" panose="020F0502020204030204" pitchFamily="34" charset="0"/>
                <a:cs typeface="Calibri" panose="020F0502020204030204" pitchFamily="34" charset="0"/>
              </a:rPr>
              <a:t>, indicating this is the mainstream quality range for most films in the dataset.</a:t>
            </a:r>
          </a:p>
          <a:p>
            <a:endParaRPr lang="en-US" sz="16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Higher-rated films (6.5–7.5 range) show noticeably higher download volumes</a:t>
            </a:r>
            <a:r>
              <a:rPr lang="en-US" sz="1600" i="1" dirty="0">
                <a:latin typeface="Calibri" panose="020F0502020204030204" pitchFamily="34" charset="0"/>
                <a:ea typeface="Calibri" panose="020F0502020204030204" pitchFamily="34" charset="0"/>
                <a:cs typeface="Calibri" panose="020F0502020204030204" pitchFamily="34" charset="0"/>
              </a:rPr>
              <a:t>, suggesting that audience approval influences piracy activity.</a:t>
            </a:r>
          </a:p>
          <a:p>
            <a:pPr marL="285750" indent="-285750">
              <a:buFont typeface="Arial" panose="020B0604020202020204" pitchFamily="34" charset="0"/>
              <a:buChar char="•"/>
            </a:pPr>
            <a:endParaRPr lang="en-US" sz="1600" i="1"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956A29C-7170-3752-BA8F-D09AA17C968A}"/>
              </a:ext>
            </a:extLst>
          </p:cNvPr>
          <p:cNvSpPr txBox="1"/>
          <p:nvPr/>
        </p:nvSpPr>
        <p:spPr>
          <a:xfrm>
            <a:off x="1337481" y="5553165"/>
            <a:ext cx="10854519" cy="646331"/>
          </a:xfrm>
          <a:prstGeom prst="rect">
            <a:avLst/>
          </a:prstGeom>
          <a:noFill/>
        </p:spPr>
        <p:txBody>
          <a:bodyPr wrap="square" rtlCol="0">
            <a:spAutoFit/>
          </a:bodyPr>
          <a:lstStyle/>
          <a:p>
            <a:pPr marL="285750" indent="-285750">
              <a:buFont typeface="Wingdings" panose="05000000000000000000" pitchFamily="2" charset="2"/>
              <a:buChar char="Ø"/>
            </a:pPr>
            <a:r>
              <a:rPr lang="en-US" b="1" i="1" dirty="0">
                <a:solidFill>
                  <a:srgbClr val="1C6294"/>
                </a:solidFill>
                <a:latin typeface="Calibri" panose="020F0502020204030204" pitchFamily="34" charset="0"/>
                <a:ea typeface="Calibri" panose="020F0502020204030204" pitchFamily="34" charset="0"/>
                <a:cs typeface="Calibri" panose="020F0502020204030204" pitchFamily="34" charset="0"/>
              </a:rPr>
              <a:t>Extremely low or high ratings see fewer downloads, showing that viewers gravitate toward moderately or well-reviewed movies.</a:t>
            </a:r>
          </a:p>
        </p:txBody>
      </p:sp>
      <p:sp>
        <p:nvSpPr>
          <p:cNvPr id="5" name="Slide Number Placeholder 4">
            <a:extLst>
              <a:ext uri="{FF2B5EF4-FFF2-40B4-BE49-F238E27FC236}">
                <a16:creationId xmlns:a16="http://schemas.microsoft.com/office/drawing/2014/main" id="{85E1E470-CFC7-2565-E2E1-E5BB3A4229C1}"/>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16</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p:cNvSpPr txBox="1"/>
          <p:nvPr/>
        </p:nvSpPr>
        <p:spPr>
          <a:xfrm>
            <a:off x="1" y="6323598"/>
            <a:ext cx="12191999"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 Genre Piracy   ○ Top Pirated   ○ Ratings vs Piracy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Ratings Dist.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Storyline NLP   ○ Story vs Downloads   ○ Keywords   ○ NLP Extraction   ○ Insights   ○ Business Value   ○ Conclusion   ○ Enhancements   ○ Thank You</a:t>
            </a:r>
          </a:p>
        </p:txBody>
      </p:sp>
    </p:spTree>
    <p:extLst>
      <p:ext uri="{BB962C8B-B14F-4D97-AF65-F5344CB8AC3E}">
        <p14:creationId xmlns:p14="http://schemas.microsoft.com/office/powerpoint/2010/main" val="2628199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90EB7-E41E-39AC-CF99-E6A137F03783}"/>
              </a:ext>
            </a:extLst>
          </p:cNvPr>
          <p:cNvSpPr>
            <a:spLocks noGrp="1"/>
          </p:cNvSpPr>
          <p:nvPr>
            <p:ph type="title"/>
          </p:nvPr>
        </p:nvSpPr>
        <p:spPr>
          <a:xfrm>
            <a:off x="0" y="-102358"/>
            <a:ext cx="12192000" cy="730155"/>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STORYLINE ANALYTICS (NLP)</a:t>
            </a:r>
          </a:p>
        </p:txBody>
      </p:sp>
      <p:sp>
        <p:nvSpPr>
          <p:cNvPr id="4" name="TextBox 3">
            <a:extLst>
              <a:ext uri="{FF2B5EF4-FFF2-40B4-BE49-F238E27FC236}">
                <a16:creationId xmlns:a16="http://schemas.microsoft.com/office/drawing/2014/main" id="{8976E7F7-6250-2B2D-293C-F3C17ACA7A7F}"/>
              </a:ext>
            </a:extLst>
          </p:cNvPr>
          <p:cNvSpPr txBox="1"/>
          <p:nvPr/>
        </p:nvSpPr>
        <p:spPr>
          <a:xfrm>
            <a:off x="1433015" y="627797"/>
            <a:ext cx="7540388" cy="461665"/>
          </a:xfrm>
          <a:prstGeom prst="rect">
            <a:avLst/>
          </a:prstGeom>
          <a:noFill/>
        </p:spPr>
        <p:txBody>
          <a:bodyPr wrap="square" rtlCol="0">
            <a:spAutoFit/>
          </a:bodyPr>
          <a:lstStyle/>
          <a:p>
            <a:pPr marL="342900" indent="-342900">
              <a:buFont typeface="Wingdings" panose="05000000000000000000" pitchFamily="2" charset="2"/>
              <a:buChar char="Ø"/>
            </a:pPr>
            <a:r>
              <a:rPr lang="en-US" sz="2400" b="1" i="1" dirty="0">
                <a:solidFill>
                  <a:srgbClr val="1C6294"/>
                </a:solidFill>
                <a:latin typeface="Calibri" panose="020F0502020204030204" pitchFamily="34" charset="0"/>
                <a:ea typeface="Calibri" panose="020F0502020204030204" pitchFamily="34" charset="0"/>
                <a:cs typeface="Calibri" panose="020F0502020204030204" pitchFamily="34" charset="0"/>
              </a:rPr>
              <a:t>Using NLP to Convert Movie Storylines Into Data: </a:t>
            </a:r>
          </a:p>
        </p:txBody>
      </p:sp>
      <p:sp>
        <p:nvSpPr>
          <p:cNvPr id="5" name="TextBox 4">
            <a:extLst>
              <a:ext uri="{FF2B5EF4-FFF2-40B4-BE49-F238E27FC236}">
                <a16:creationId xmlns:a16="http://schemas.microsoft.com/office/drawing/2014/main" id="{BD63AB82-5204-78D3-9CBB-31D0706AA9BB}"/>
              </a:ext>
            </a:extLst>
          </p:cNvPr>
          <p:cNvSpPr txBox="1"/>
          <p:nvPr/>
        </p:nvSpPr>
        <p:spPr>
          <a:xfrm>
            <a:off x="1201004" y="1690062"/>
            <a:ext cx="3521122" cy="3477875"/>
          </a:xfrm>
          <a:prstGeom prst="rect">
            <a:avLst/>
          </a:prstGeom>
          <a:noFill/>
        </p:spPr>
        <p:txBody>
          <a:bodyPr wrap="square" rtlCol="0">
            <a:spAutoFit/>
          </a:bodyPr>
          <a:lstStyle/>
          <a:p>
            <a:pPr marL="342900" indent="-342900">
              <a:buFont typeface="Arial" panose="020B0604020202020204" pitchFamily="34" charset="0"/>
              <a:buChar char="•"/>
            </a:pPr>
            <a:r>
              <a:rPr lang="en-US" sz="2000" i="1" dirty="0">
                <a:latin typeface="Calibri" panose="020F0502020204030204" pitchFamily="34" charset="0"/>
                <a:ea typeface="Calibri" panose="020F0502020204030204" pitchFamily="34" charset="0"/>
                <a:cs typeface="Calibri" panose="020F0502020204030204" pitchFamily="34" charset="0"/>
              </a:rPr>
              <a:t>Analyzed movie </a:t>
            </a:r>
            <a:r>
              <a:rPr lang="en-US" sz="2000" b="1" i="1" dirty="0">
                <a:latin typeface="Calibri" panose="020F0502020204030204" pitchFamily="34" charset="0"/>
                <a:ea typeface="Calibri" panose="020F0502020204030204" pitchFamily="34" charset="0"/>
                <a:cs typeface="Calibri" panose="020F0502020204030204" pitchFamily="34" charset="0"/>
              </a:rPr>
              <a:t>storyline descriptions</a:t>
            </a:r>
            <a:r>
              <a:rPr lang="en-US" sz="2000" i="1" dirty="0">
                <a:latin typeface="Calibri" panose="020F0502020204030204" pitchFamily="34" charset="0"/>
                <a:ea typeface="Calibri" panose="020F0502020204030204" pitchFamily="34" charset="0"/>
                <a:cs typeface="Calibri" panose="020F0502020204030204" pitchFamily="34" charset="0"/>
              </a:rPr>
              <a:t> using NLP.</a:t>
            </a:r>
          </a:p>
          <a:p>
            <a:pPr marL="342900" indent="-342900">
              <a:buFont typeface="Arial" panose="020B0604020202020204" pitchFamily="34" charset="0"/>
              <a:buChar char="•"/>
            </a:pPr>
            <a:endParaRPr lang="en-US" sz="2000" i="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i="1" dirty="0">
                <a:latin typeface="Calibri" panose="020F0502020204030204" pitchFamily="34" charset="0"/>
                <a:ea typeface="Calibri" panose="020F0502020204030204" pitchFamily="34" charset="0"/>
                <a:cs typeface="Calibri" panose="020F0502020204030204" pitchFamily="34" charset="0"/>
              </a:rPr>
              <a:t>The first step was to measure storyline length.</a:t>
            </a:r>
          </a:p>
          <a:p>
            <a:pPr marL="342900" indent="-342900">
              <a:buFont typeface="Arial" panose="020B0604020202020204" pitchFamily="34" charset="0"/>
              <a:buChar char="•"/>
            </a:pPr>
            <a:endParaRPr lang="en-US" sz="2000" i="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i="1" dirty="0">
                <a:latin typeface="Calibri" panose="020F0502020204030204" pitchFamily="34" charset="0"/>
                <a:ea typeface="Calibri" panose="020F0502020204030204" pitchFamily="34" charset="0"/>
                <a:cs typeface="Calibri" panose="020F0502020204030204" pitchFamily="34" charset="0"/>
              </a:rPr>
              <a:t>Longer descriptions often indicate complex narratives, while shorter ones suggest action-driven plots.</a:t>
            </a:r>
          </a:p>
          <a:p>
            <a:pPr marL="342900" indent="-342900">
              <a:buFont typeface="Wingdings" panose="05000000000000000000" pitchFamily="2" charset="2"/>
              <a:buChar char="Ø"/>
            </a:pPr>
            <a:endParaRPr lang="en-US" sz="2000" i="1"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B69CDFCD-96C2-C1BD-EDF1-847391F54203}"/>
              </a:ext>
            </a:extLst>
          </p:cNvPr>
          <p:cNvPicPr>
            <a:picLocks noChangeAspect="1"/>
          </p:cNvPicPr>
          <p:nvPr/>
        </p:nvPicPr>
        <p:blipFill>
          <a:blip r:embed="rId2"/>
          <a:stretch>
            <a:fillRect/>
          </a:stretch>
        </p:blipFill>
        <p:spPr>
          <a:xfrm>
            <a:off x="4572000" y="1311546"/>
            <a:ext cx="7540388" cy="4234906"/>
          </a:xfrm>
          <a:prstGeom prst="rect">
            <a:avLst/>
          </a:prstGeom>
        </p:spPr>
      </p:pic>
      <p:sp>
        <p:nvSpPr>
          <p:cNvPr id="8" name="TextBox 7">
            <a:extLst>
              <a:ext uri="{FF2B5EF4-FFF2-40B4-BE49-F238E27FC236}">
                <a16:creationId xmlns:a16="http://schemas.microsoft.com/office/drawing/2014/main" id="{13137B3F-1AF7-5D91-5AFA-315C94129DC3}"/>
              </a:ext>
            </a:extLst>
          </p:cNvPr>
          <p:cNvSpPr txBox="1"/>
          <p:nvPr/>
        </p:nvSpPr>
        <p:spPr>
          <a:xfrm>
            <a:off x="1433015" y="5583870"/>
            <a:ext cx="10615684" cy="369332"/>
          </a:xfrm>
          <a:prstGeom prst="rect">
            <a:avLst/>
          </a:prstGeom>
          <a:noFill/>
        </p:spPr>
        <p:txBody>
          <a:bodyPr wrap="square" rtlCol="0">
            <a:spAutoFit/>
          </a:bodyPr>
          <a:lstStyle/>
          <a:p>
            <a:pPr marL="342900" indent="-342900">
              <a:buFont typeface="Wingdings" panose="05000000000000000000" pitchFamily="2" charset="2"/>
              <a:buChar char="Ø"/>
            </a:pPr>
            <a:r>
              <a:rPr lang="en-US" b="1" i="1" dirty="0">
                <a:solidFill>
                  <a:srgbClr val="1C6294"/>
                </a:solidFill>
                <a:latin typeface="Calibri" panose="020F0502020204030204" pitchFamily="34" charset="0"/>
                <a:ea typeface="Calibri" panose="020F0502020204030204" pitchFamily="34" charset="0"/>
                <a:cs typeface="Calibri" panose="020F0502020204030204" pitchFamily="34" charset="0"/>
              </a:rPr>
              <a:t>Piracy behavior clusters strongly around films that have short, simple premise lines — often blockbusters.</a:t>
            </a:r>
          </a:p>
        </p:txBody>
      </p:sp>
      <p:sp>
        <p:nvSpPr>
          <p:cNvPr id="3" name="Slide Number Placeholder 2">
            <a:extLst>
              <a:ext uri="{FF2B5EF4-FFF2-40B4-BE49-F238E27FC236}">
                <a16:creationId xmlns:a16="http://schemas.microsoft.com/office/drawing/2014/main" id="{6FF86AA9-BF72-66A1-4029-B9B1691ACAF7}"/>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17</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p:cNvSpPr txBox="1"/>
          <p:nvPr/>
        </p:nvSpPr>
        <p:spPr>
          <a:xfrm>
            <a:off x="0" y="6323598"/>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 Genre Piracy   ○ Top Pirated   ○ Ratings vs Piracy   ○ Ratings Dist.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Storyline NLP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Story vs Downloads   ○ Keywords   ○ NLP Extraction   ○ Insights   ○ Business Value   ○ Conclusion   ○ Enhancements   ○ Thank You</a:t>
            </a:r>
          </a:p>
        </p:txBody>
      </p:sp>
    </p:spTree>
    <p:extLst>
      <p:ext uri="{BB962C8B-B14F-4D97-AF65-F5344CB8AC3E}">
        <p14:creationId xmlns:p14="http://schemas.microsoft.com/office/powerpoint/2010/main" val="208356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FB7F7-B838-51CE-C69C-C6A7F36925A2}"/>
              </a:ext>
            </a:extLst>
          </p:cNvPr>
          <p:cNvSpPr>
            <a:spLocks noGrp="1"/>
          </p:cNvSpPr>
          <p:nvPr>
            <p:ph type="title"/>
          </p:nvPr>
        </p:nvSpPr>
        <p:spPr>
          <a:xfrm>
            <a:off x="1886802" y="-179126"/>
            <a:ext cx="10615684" cy="876868"/>
          </a:xfrm>
        </p:spPr>
        <p:txBody>
          <a:bodyPr>
            <a:normAutofit/>
          </a:bodyPr>
          <a:lstStyle/>
          <a:p>
            <a:r>
              <a:rPr lang="en-US" b="1" i="1" dirty="0">
                <a:latin typeface="Calibri" panose="020F0502020204030204" pitchFamily="34" charset="0"/>
                <a:ea typeface="Calibri" panose="020F0502020204030204" pitchFamily="34" charset="0"/>
                <a:cs typeface="Calibri" panose="020F0502020204030204" pitchFamily="34" charset="0"/>
              </a:rPr>
              <a:t>STORY LENGTH VS DOWNLOADS</a:t>
            </a:r>
          </a:p>
        </p:txBody>
      </p:sp>
      <p:sp>
        <p:nvSpPr>
          <p:cNvPr id="4" name="TextBox 3">
            <a:extLst>
              <a:ext uri="{FF2B5EF4-FFF2-40B4-BE49-F238E27FC236}">
                <a16:creationId xmlns:a16="http://schemas.microsoft.com/office/drawing/2014/main" id="{2756564C-54F4-4960-8740-3D3988A29DB4}"/>
              </a:ext>
            </a:extLst>
          </p:cNvPr>
          <p:cNvSpPr txBox="1"/>
          <p:nvPr/>
        </p:nvSpPr>
        <p:spPr>
          <a:xfrm>
            <a:off x="1237567" y="1228397"/>
            <a:ext cx="2959120" cy="1354217"/>
          </a:xfrm>
          <a:prstGeom prst="rect">
            <a:avLst/>
          </a:prstGeom>
          <a:noFill/>
        </p:spPr>
        <p:txBody>
          <a:bodyPr wrap="square" rtlCol="0">
            <a:spAutoFit/>
          </a:bodyPr>
          <a:lstStyle/>
          <a:p>
            <a:r>
              <a:rPr lang="en-US" sz="2400" b="1" i="1" dirty="0">
                <a:latin typeface="Calibri" panose="020F0502020204030204" pitchFamily="34" charset="0"/>
                <a:ea typeface="Calibri" panose="020F0502020204030204" pitchFamily="34" charset="0"/>
                <a:cs typeface="Calibri" panose="020F0502020204030204" pitchFamily="34" charset="0"/>
              </a:rPr>
              <a:t>Key Insights:</a:t>
            </a:r>
          </a:p>
          <a:p>
            <a:endParaRPr lang="en-US" sz="2400" b="1" i="1" dirty="0">
              <a:latin typeface="Calibri" panose="020F0502020204030204" pitchFamily="34" charset="0"/>
              <a:ea typeface="Calibri" panose="020F0502020204030204" pitchFamily="34" charset="0"/>
              <a:cs typeface="Calibri" panose="020F0502020204030204" pitchFamily="34" charset="0"/>
            </a:endParaRPr>
          </a:p>
          <a:p>
            <a:endParaRPr lang="en-US" sz="1600" dirty="0">
              <a:latin typeface="Calibri" panose="020F0502020204030204" pitchFamily="34" charset="0"/>
              <a:ea typeface="Calibri" panose="020F0502020204030204" pitchFamily="34" charset="0"/>
              <a:cs typeface="Calibri" panose="020F0502020204030204" pitchFamily="34" charset="0"/>
            </a:endParaRPr>
          </a:p>
          <a:p>
            <a:endParaRPr lang="en-US" i="1" dirty="0">
              <a:latin typeface="Calibri" panose="020F0502020204030204" pitchFamily="34" charset="0"/>
              <a:ea typeface="Calibri" panose="020F0502020204030204" pitchFamily="34" charset="0"/>
              <a:cs typeface="Calibri" panose="020F0502020204030204" pitchFamily="34" charset="0"/>
            </a:endParaRPr>
          </a:p>
        </p:txBody>
      </p:sp>
      <p:pic>
        <p:nvPicPr>
          <p:cNvPr id="7" name="Video Project 1">
            <a:hlinkClick r:id="" action="ppaction://media"/>
            <a:extLst>
              <a:ext uri="{FF2B5EF4-FFF2-40B4-BE49-F238E27FC236}">
                <a16:creationId xmlns:a16="http://schemas.microsoft.com/office/drawing/2014/main" id="{32647811-157A-1DB5-AD12-C6195849654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562066" y="880921"/>
            <a:ext cx="8568519" cy="4819791"/>
          </a:xfrm>
          <a:prstGeom prst="rect">
            <a:avLst/>
          </a:prstGeom>
        </p:spPr>
      </p:pic>
      <p:sp>
        <p:nvSpPr>
          <p:cNvPr id="3" name="TextBox 2">
            <a:extLst>
              <a:ext uri="{FF2B5EF4-FFF2-40B4-BE49-F238E27FC236}">
                <a16:creationId xmlns:a16="http://schemas.microsoft.com/office/drawing/2014/main" id="{22C859C1-E04C-3DF3-E608-445008ABCA4C}"/>
              </a:ext>
            </a:extLst>
          </p:cNvPr>
          <p:cNvSpPr txBox="1"/>
          <p:nvPr/>
        </p:nvSpPr>
        <p:spPr>
          <a:xfrm>
            <a:off x="1576316" y="5771821"/>
            <a:ext cx="11236657" cy="323165"/>
          </a:xfrm>
          <a:prstGeom prst="rect">
            <a:avLst/>
          </a:prstGeom>
          <a:noFill/>
        </p:spPr>
        <p:txBody>
          <a:bodyPr wrap="square" rtlCol="0">
            <a:spAutoFit/>
          </a:bodyPr>
          <a:lstStyle/>
          <a:p>
            <a:pPr marL="285750" indent="-285750">
              <a:buFont typeface="Wingdings" panose="05000000000000000000" pitchFamily="2" charset="2"/>
              <a:buChar char="Ø"/>
            </a:pPr>
            <a:r>
              <a:rPr lang="en-US" sz="1500" b="1" i="1" dirty="0">
                <a:solidFill>
                  <a:srgbClr val="1C6294"/>
                </a:solidFill>
                <a:latin typeface="Calibri" panose="020F0502020204030204" pitchFamily="34" charset="0"/>
                <a:ea typeface="Calibri" panose="020F0502020204030204" pitchFamily="34" charset="0"/>
                <a:cs typeface="Calibri" panose="020F0502020204030204" pitchFamily="34" charset="0"/>
              </a:rPr>
              <a:t>Longer storylines do not correlate with higher downloads, indicating simplicity and immediate appeal only drive piracy behavior.</a:t>
            </a:r>
          </a:p>
        </p:txBody>
      </p:sp>
      <p:sp>
        <p:nvSpPr>
          <p:cNvPr id="5" name="TextBox 4">
            <a:extLst>
              <a:ext uri="{FF2B5EF4-FFF2-40B4-BE49-F238E27FC236}">
                <a16:creationId xmlns:a16="http://schemas.microsoft.com/office/drawing/2014/main" id="{94963901-B18A-CD7C-8E1D-DDFCA85B6767}"/>
              </a:ext>
            </a:extLst>
          </p:cNvPr>
          <p:cNvSpPr txBox="1"/>
          <p:nvPr/>
        </p:nvSpPr>
        <p:spPr>
          <a:xfrm>
            <a:off x="1160060" y="1824846"/>
            <a:ext cx="2518012" cy="3416320"/>
          </a:xfrm>
          <a:prstGeom prst="rect">
            <a:avLst/>
          </a:prstGeom>
          <a:noFill/>
        </p:spPr>
        <p:txBody>
          <a:bodyPr wrap="square" rtlCol="0">
            <a:spAutoFit/>
          </a:bodyPr>
          <a:lstStyle/>
          <a:p>
            <a:pPr marL="285750" indent="-285750">
              <a:buFont typeface="Arial" panose="020B0604020202020204" pitchFamily="34" charset="0"/>
              <a:buChar char="•"/>
            </a:pPr>
            <a:r>
              <a:rPr lang="en-US" i="1">
                <a:latin typeface="Calibri" panose="020F0502020204030204" pitchFamily="34" charset="0"/>
                <a:ea typeface="Calibri" panose="020F0502020204030204" pitchFamily="34" charset="0"/>
                <a:cs typeface="Calibri" panose="020F0502020204030204" pitchFamily="34" charset="0"/>
              </a:rPr>
              <a:t>Shorter storylines—especially in </a:t>
            </a:r>
            <a:r>
              <a:rPr lang="en-US" b="1" i="1">
                <a:latin typeface="Calibri" panose="020F0502020204030204" pitchFamily="34" charset="0"/>
                <a:ea typeface="Calibri" panose="020F0502020204030204" pitchFamily="34" charset="0"/>
                <a:cs typeface="Calibri" panose="020F0502020204030204" pitchFamily="34" charset="0"/>
              </a:rPr>
              <a:t>Action</a:t>
            </a:r>
            <a:r>
              <a:rPr lang="en-US" i="1">
                <a:latin typeface="Calibri" panose="020F0502020204030204" pitchFamily="34" charset="0"/>
                <a:ea typeface="Calibri" panose="020F0502020204030204" pitchFamily="34" charset="0"/>
                <a:cs typeface="Calibri" panose="020F0502020204030204" pitchFamily="34" charset="0"/>
              </a:rPr>
              <a:t> and </a:t>
            </a:r>
            <a:r>
              <a:rPr lang="en-US" b="1" i="1">
                <a:latin typeface="Calibri" panose="020F0502020204030204" pitchFamily="34" charset="0"/>
                <a:ea typeface="Calibri" panose="020F0502020204030204" pitchFamily="34" charset="0"/>
                <a:cs typeface="Calibri" panose="020F0502020204030204" pitchFamily="34" charset="0"/>
              </a:rPr>
              <a:t>Thriller</a:t>
            </a:r>
            <a:r>
              <a:rPr lang="en-US" i="1">
                <a:latin typeface="Calibri" panose="020F0502020204030204" pitchFamily="34" charset="0"/>
                <a:ea typeface="Calibri" panose="020F0502020204030204" pitchFamily="34" charset="0"/>
                <a:cs typeface="Calibri" panose="020F0502020204030204" pitchFamily="34" charset="0"/>
              </a:rPr>
              <a:t> genres—attract noticeably higher piracy activity.</a:t>
            </a:r>
          </a:p>
          <a:p>
            <a:pPr marL="285750" indent="-285750">
              <a:buFont typeface="Arial" panose="020B0604020202020204" pitchFamily="34" charset="0"/>
              <a:buChar char="•"/>
            </a:pPr>
            <a:endParaRPr lang="en-US" i="1">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i="1">
                <a:latin typeface="Calibri" panose="020F0502020204030204" pitchFamily="34" charset="0"/>
                <a:ea typeface="Calibri" panose="020F0502020204030204" pitchFamily="34" charset="0"/>
                <a:cs typeface="Calibri" panose="020F0502020204030204" pitchFamily="34" charset="0"/>
              </a:rPr>
              <a:t>Clear clustering at lower word counts suggests pirates respond more to </a:t>
            </a:r>
            <a:r>
              <a:rPr lang="en-US" b="1" i="1">
                <a:latin typeface="Calibri" panose="020F0502020204030204" pitchFamily="34" charset="0"/>
                <a:ea typeface="Calibri" panose="020F0502020204030204" pitchFamily="34" charset="0"/>
                <a:cs typeface="Calibri" panose="020F0502020204030204" pitchFamily="34" charset="0"/>
              </a:rPr>
              <a:t>high-concept, fast-paced stories</a:t>
            </a:r>
            <a:r>
              <a:rPr lang="en-US" i="1">
                <a:latin typeface="Calibri" panose="020F0502020204030204" pitchFamily="34" charset="0"/>
                <a:ea typeface="Calibri" panose="020F0502020204030204" pitchFamily="34" charset="0"/>
                <a:cs typeface="Calibri" panose="020F0502020204030204" pitchFamily="34" charset="0"/>
              </a:rPr>
              <a:t>.</a:t>
            </a:r>
            <a:endParaRPr lang="en-US" i="1" dirty="0">
              <a:latin typeface="Calibri" panose="020F0502020204030204" pitchFamily="34"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428B3D06-3912-C59A-9E23-49CF9906E632}"/>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18</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p:cNvSpPr txBox="1"/>
          <p:nvPr/>
        </p:nvSpPr>
        <p:spPr>
          <a:xfrm>
            <a:off x="0" y="6405122"/>
            <a:ext cx="12192000" cy="338554"/>
          </a:xfrm>
          <a:prstGeom prst="rect">
            <a:avLst/>
          </a:prstGeom>
          <a:noFill/>
        </p:spPr>
        <p:txBody>
          <a:bodyPr wrap="square">
            <a:spAutoFit/>
          </a:bodyPr>
          <a:lstStyle/>
          <a:p>
            <a:pPr algn="ctr"/>
            <a:r>
              <a:rPr sz="800"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 Genre Piracy   ○ Top Pirated   ○ Ratings vs Piracy   ○ Ratings Dist.   ○ Storyline NLP   </a:t>
            </a:r>
            <a:r>
              <a:rPr sz="800" dirty="0">
                <a:solidFill>
                  <a:srgbClr val="1C6294"/>
                </a:solidFill>
                <a:latin typeface="Calibri" panose="020F0502020204030204" pitchFamily="34" charset="0"/>
                <a:ea typeface="Calibri" panose="020F0502020204030204" pitchFamily="34" charset="0"/>
                <a:cs typeface="Calibri" panose="020F0502020204030204" pitchFamily="34" charset="0"/>
              </a:rPr>
              <a:t>● Story vs Downloads   </a:t>
            </a:r>
            <a:r>
              <a:rPr sz="800" dirty="0">
                <a:solidFill>
                  <a:srgbClr val="999999"/>
                </a:solidFill>
                <a:latin typeface="Calibri" panose="020F0502020204030204" pitchFamily="34" charset="0"/>
                <a:ea typeface="Calibri" panose="020F0502020204030204" pitchFamily="34" charset="0"/>
                <a:cs typeface="Calibri" panose="020F0502020204030204" pitchFamily="34" charset="0"/>
              </a:rPr>
              <a:t>○ Keywords   ○ NLP Extraction   ○ Insights   ○ Business Value   ○ Conclusion   ○ Enhancements   ○ Thank You</a:t>
            </a:r>
          </a:p>
        </p:txBody>
      </p:sp>
    </p:spTree>
    <p:extLst>
      <p:ext uri="{BB962C8B-B14F-4D97-AF65-F5344CB8AC3E}">
        <p14:creationId xmlns:p14="http://schemas.microsoft.com/office/powerpoint/2010/main" val="963152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29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426C-9FA7-4ADF-235F-3740C5D7FFED}"/>
              </a:ext>
            </a:extLst>
          </p:cNvPr>
          <p:cNvSpPr>
            <a:spLocks noGrp="1"/>
          </p:cNvSpPr>
          <p:nvPr>
            <p:ph type="title"/>
          </p:nvPr>
        </p:nvSpPr>
        <p:spPr>
          <a:xfrm>
            <a:off x="1692322" y="-116005"/>
            <a:ext cx="10206251" cy="740391"/>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TOP 20 KEYWORDS DRIVING PIRACY</a:t>
            </a:r>
          </a:p>
        </p:txBody>
      </p:sp>
      <p:sp>
        <p:nvSpPr>
          <p:cNvPr id="4" name="TextBox 3">
            <a:extLst>
              <a:ext uri="{FF2B5EF4-FFF2-40B4-BE49-F238E27FC236}">
                <a16:creationId xmlns:a16="http://schemas.microsoft.com/office/drawing/2014/main" id="{D8858ADC-2142-EADC-BEC9-E310FD5F4C51}"/>
              </a:ext>
            </a:extLst>
          </p:cNvPr>
          <p:cNvSpPr txBox="1"/>
          <p:nvPr/>
        </p:nvSpPr>
        <p:spPr>
          <a:xfrm>
            <a:off x="1398896" y="631209"/>
            <a:ext cx="10793104"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i="1" dirty="0">
                <a:solidFill>
                  <a:srgbClr val="1C6294"/>
                </a:solidFill>
                <a:latin typeface="Calibri" panose="020F0502020204030204" pitchFamily="34" charset="0"/>
                <a:ea typeface="Calibri" panose="020F0502020204030204" pitchFamily="34" charset="0"/>
                <a:cs typeface="Calibri" panose="020F0502020204030204" pitchFamily="34" charset="0"/>
              </a:rPr>
              <a:t>The Top 20 storyline keywords associated with the highest piracy download volumes reveal clear thematic patterns across pirated films. These patterns help us understand what narrative elements attract the most unauthorized viewership.</a:t>
            </a:r>
          </a:p>
        </p:txBody>
      </p:sp>
      <p:pic>
        <p:nvPicPr>
          <p:cNvPr id="8" name="Picture 7">
            <a:extLst>
              <a:ext uri="{FF2B5EF4-FFF2-40B4-BE49-F238E27FC236}">
                <a16:creationId xmlns:a16="http://schemas.microsoft.com/office/drawing/2014/main" id="{878BD36C-3D84-6FC1-A67C-78B3523DE378}"/>
              </a:ext>
            </a:extLst>
          </p:cNvPr>
          <p:cNvPicPr>
            <a:picLocks noChangeAspect="1"/>
          </p:cNvPicPr>
          <p:nvPr/>
        </p:nvPicPr>
        <p:blipFill>
          <a:blip r:embed="rId2"/>
          <a:stretch>
            <a:fillRect/>
          </a:stretch>
        </p:blipFill>
        <p:spPr>
          <a:xfrm>
            <a:off x="5470783" y="1615070"/>
            <a:ext cx="6629225" cy="4653914"/>
          </a:xfrm>
          <a:prstGeom prst="rect">
            <a:avLst/>
          </a:prstGeom>
        </p:spPr>
      </p:pic>
      <p:sp>
        <p:nvSpPr>
          <p:cNvPr id="3" name="TextBox 2">
            <a:extLst>
              <a:ext uri="{FF2B5EF4-FFF2-40B4-BE49-F238E27FC236}">
                <a16:creationId xmlns:a16="http://schemas.microsoft.com/office/drawing/2014/main" id="{7445B4E0-34D5-6570-845D-80E5BD40C3D4}"/>
              </a:ext>
            </a:extLst>
          </p:cNvPr>
          <p:cNvSpPr txBox="1"/>
          <p:nvPr/>
        </p:nvSpPr>
        <p:spPr>
          <a:xfrm>
            <a:off x="1551296" y="1615069"/>
            <a:ext cx="3996519" cy="5262979"/>
          </a:xfrm>
          <a:prstGeom prst="rect">
            <a:avLst/>
          </a:prstGeom>
          <a:noFill/>
        </p:spPr>
        <p:txBody>
          <a:bodyPr wrap="square" rtlCol="0">
            <a:spAutoFit/>
          </a:bodyPr>
          <a:lstStyle/>
          <a:p>
            <a:pPr marL="342900" indent="-342900">
              <a:buFont typeface="Wingdings" panose="05000000000000000000" pitchFamily="2" charset="2"/>
              <a:buChar char="Ø"/>
            </a:pPr>
            <a:r>
              <a:rPr lang="en-US" sz="1400" b="1" i="1" dirty="0">
                <a:latin typeface="Calibri" panose="020F0502020204030204" pitchFamily="34" charset="0"/>
                <a:ea typeface="Calibri" panose="020F0502020204030204" pitchFamily="34" charset="0"/>
                <a:cs typeface="Calibri" panose="020F0502020204030204" pitchFamily="34" charset="0"/>
              </a:rPr>
              <a:t>Action-Driven Story Elements:</a:t>
            </a:r>
          </a:p>
          <a:p>
            <a:r>
              <a:rPr lang="en-US" sz="1400" i="1" dirty="0">
                <a:latin typeface="Calibri" panose="020F0502020204030204" pitchFamily="34" charset="0"/>
                <a:ea typeface="Calibri" panose="020F0502020204030204" pitchFamily="34" charset="0"/>
                <a:cs typeface="Calibri" panose="020F0502020204030204" pitchFamily="34" charset="0"/>
              </a:rPr>
              <a:t>Frequent presence of </a:t>
            </a:r>
            <a:r>
              <a:rPr lang="en-US" sz="1400" b="1" i="1" dirty="0">
                <a:latin typeface="Calibri" panose="020F0502020204030204" pitchFamily="34" charset="0"/>
                <a:ea typeface="Calibri" panose="020F0502020204030204" pitchFamily="34" charset="0"/>
                <a:cs typeface="Calibri" panose="020F0502020204030204" pitchFamily="34" charset="0"/>
              </a:rPr>
              <a:t>high-intensity triggers</a:t>
            </a:r>
            <a:br>
              <a:rPr lang="en-US" sz="1400" i="1" dirty="0">
                <a:latin typeface="Calibri" panose="020F0502020204030204" pitchFamily="34" charset="0"/>
                <a:ea typeface="Calibri" panose="020F0502020204030204" pitchFamily="34" charset="0"/>
                <a:cs typeface="Calibri" panose="020F0502020204030204" pitchFamily="34" charset="0"/>
              </a:rPr>
            </a:br>
            <a:r>
              <a:rPr lang="en-US" sz="1400" i="1" dirty="0">
                <a:latin typeface="Calibri" panose="020F0502020204030204" pitchFamily="34" charset="0"/>
                <a:ea typeface="Calibri" panose="020F0502020204030204" pitchFamily="34" charset="0"/>
                <a:cs typeface="Calibri" panose="020F0502020204030204" pitchFamily="34" charset="0"/>
              </a:rPr>
              <a:t> premonition, evacuation, bomb, beheading, shark, chase-related themes indicates strong audience interest in suspense, urgency, and physical risk</a:t>
            </a:r>
          </a:p>
          <a:p>
            <a:endParaRPr lang="en-US" sz="1400" i="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US" sz="1400" b="1" i="1" dirty="0">
                <a:latin typeface="Calibri" panose="020F0502020204030204" pitchFamily="34" charset="0"/>
                <a:ea typeface="Calibri" panose="020F0502020204030204" pitchFamily="34" charset="0"/>
                <a:cs typeface="Calibri" panose="020F0502020204030204" pitchFamily="34" charset="0"/>
              </a:rPr>
              <a:t>Psychological &amp; Supernatural Themes:</a:t>
            </a:r>
          </a:p>
          <a:p>
            <a:r>
              <a:rPr lang="en-US" sz="1400" i="1" dirty="0">
                <a:latin typeface="Calibri" panose="020F0502020204030204" pitchFamily="34" charset="0"/>
                <a:ea typeface="Calibri" panose="020F0502020204030204" pitchFamily="34" charset="0"/>
                <a:cs typeface="Calibri" panose="020F0502020204030204" pitchFamily="34" charset="0"/>
              </a:rPr>
              <a:t>Keywords such as</a:t>
            </a:r>
            <a:br>
              <a:rPr lang="en-US" sz="1400" i="1" dirty="0">
                <a:latin typeface="Calibri" panose="020F0502020204030204" pitchFamily="34" charset="0"/>
                <a:ea typeface="Calibri" panose="020F0502020204030204" pitchFamily="34" charset="0"/>
                <a:cs typeface="Calibri" panose="020F0502020204030204" pitchFamily="34" charset="0"/>
              </a:rPr>
            </a:br>
            <a:r>
              <a:rPr lang="en-US" sz="1400" i="1" dirty="0">
                <a:latin typeface="Calibri" panose="020F0502020204030204" pitchFamily="34" charset="0"/>
                <a:ea typeface="Calibri" panose="020F0502020204030204" pitchFamily="34" charset="0"/>
                <a:cs typeface="Calibri" panose="020F0502020204030204" pitchFamily="34" charset="0"/>
              </a:rPr>
              <a:t>telepathy, exorcism, shapeshifting, unexpected suggests viewers gravitate toward mystery, fear, and the supernatural</a:t>
            </a:r>
          </a:p>
          <a:p>
            <a:endParaRPr lang="en-US" sz="14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400" b="1" i="1" dirty="0">
                <a:latin typeface="Calibri" panose="020F0502020204030204" pitchFamily="34" charset="0"/>
                <a:ea typeface="Calibri" panose="020F0502020204030204" pitchFamily="34" charset="0"/>
                <a:cs typeface="Calibri" panose="020F0502020204030204" pitchFamily="34" charset="0"/>
              </a:rPr>
              <a:t>Human Emotion &amp; Personal Conflict:</a:t>
            </a:r>
          </a:p>
          <a:p>
            <a:r>
              <a:rPr lang="en-US" sz="1400" i="1" dirty="0">
                <a:latin typeface="Calibri" panose="020F0502020204030204" pitchFamily="34" charset="0"/>
                <a:ea typeface="Calibri" panose="020F0502020204030204" pitchFamily="34" charset="0"/>
                <a:cs typeface="Calibri" panose="020F0502020204030204" pitchFamily="34" charset="0"/>
              </a:rPr>
              <a:t>Themes around faithlessness, dual identity, premonition reflect strong engagement with personal dilemmas and emotional tension.</a:t>
            </a:r>
          </a:p>
          <a:p>
            <a:endParaRPr lang="en-US" sz="1400" b="1"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400" b="1" i="1" dirty="0">
                <a:latin typeface="Calibri" panose="020F0502020204030204" pitchFamily="34" charset="0"/>
                <a:ea typeface="Calibri" panose="020F0502020204030204" pitchFamily="34" charset="0"/>
                <a:cs typeface="Calibri" panose="020F0502020204030204" pitchFamily="34" charset="0"/>
              </a:rPr>
              <a:t>Crisis &amp; Survival Indicator:</a:t>
            </a:r>
          </a:p>
          <a:p>
            <a:r>
              <a:rPr lang="en-US" sz="1400" i="1" dirty="0">
                <a:latin typeface="Calibri" panose="020F0502020204030204" pitchFamily="34" charset="0"/>
                <a:ea typeface="Calibri" panose="020F0502020204030204" pitchFamily="34" charset="0"/>
                <a:cs typeface="Calibri" panose="020F0502020204030204" pitchFamily="34" charset="0"/>
              </a:rPr>
              <a:t>Words like gas, route, evacuation, ambulance shows interest in crisis-driven plots where survival is central.</a:t>
            </a:r>
          </a:p>
          <a:p>
            <a:endParaRPr lang="en-US" sz="1400" b="1" i="1" dirty="0">
              <a:latin typeface="Calibri" panose="020F0502020204030204" pitchFamily="34" charset="0"/>
              <a:ea typeface="Calibri" panose="020F0502020204030204" pitchFamily="34" charset="0"/>
              <a:cs typeface="Calibri" panose="020F0502020204030204" pitchFamily="34" charset="0"/>
            </a:endParaRPr>
          </a:p>
          <a:p>
            <a:endParaRPr lang="en-US" sz="1400" b="1" i="1" dirty="0">
              <a:latin typeface="Calibri" panose="020F0502020204030204" pitchFamily="34" charset="0"/>
              <a:ea typeface="Calibri" panose="020F0502020204030204" pitchFamily="34" charset="0"/>
              <a:cs typeface="Calibri" panose="020F0502020204030204" pitchFamily="34" charset="0"/>
            </a:endParaRPr>
          </a:p>
          <a:p>
            <a:endParaRPr lang="en-US" sz="1400" dirty="0"/>
          </a:p>
        </p:txBody>
      </p:sp>
      <p:sp>
        <p:nvSpPr>
          <p:cNvPr id="5" name="Slide Number Placeholder 4">
            <a:extLst>
              <a:ext uri="{FF2B5EF4-FFF2-40B4-BE49-F238E27FC236}">
                <a16:creationId xmlns:a16="http://schemas.microsoft.com/office/drawing/2014/main" id="{A3022ECB-FDBF-B296-2EFC-B430C2F30558}"/>
              </a:ext>
            </a:extLst>
          </p:cNvPr>
          <p:cNvSpPr>
            <a:spLocks noGrp="1"/>
          </p:cNvSpPr>
          <p:nvPr>
            <p:ph type="sldNum" sz="quarter" idx="12"/>
          </p:nvPr>
        </p:nvSpPr>
        <p:spPr>
          <a:xfrm>
            <a:off x="11622989"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19</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p:cNvSpPr txBox="1"/>
          <p:nvPr/>
        </p:nvSpPr>
        <p:spPr>
          <a:xfrm>
            <a:off x="8922" y="6404239"/>
            <a:ext cx="12174156"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 Genre Piracy   ○ Top Pirated   ○ Ratings vs Piracy   ○ Ratings Dist.   ○ Storyline NLP   ○ Story vs Downloads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Keywords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NLP Extraction   ○ Insights   ○ Business Value   ○ Conclusion   ○ Enhancements   ○ Thank You</a:t>
            </a:r>
          </a:p>
        </p:txBody>
      </p:sp>
    </p:spTree>
    <p:extLst>
      <p:ext uri="{BB962C8B-B14F-4D97-AF65-F5344CB8AC3E}">
        <p14:creationId xmlns:p14="http://schemas.microsoft.com/office/powerpoint/2010/main" val="305770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C0F79-EAC3-4181-E320-DC1139F6997B}"/>
              </a:ext>
            </a:extLst>
          </p:cNvPr>
          <p:cNvSpPr>
            <a:spLocks noGrp="1"/>
          </p:cNvSpPr>
          <p:nvPr>
            <p:ph type="title"/>
          </p:nvPr>
        </p:nvSpPr>
        <p:spPr>
          <a:xfrm>
            <a:off x="893928" y="-152338"/>
            <a:ext cx="10404143" cy="743803"/>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NLP KEYWORD EXTRACTION</a:t>
            </a:r>
          </a:p>
        </p:txBody>
      </p:sp>
      <p:sp>
        <p:nvSpPr>
          <p:cNvPr id="4" name="TextBox 3">
            <a:extLst>
              <a:ext uri="{FF2B5EF4-FFF2-40B4-BE49-F238E27FC236}">
                <a16:creationId xmlns:a16="http://schemas.microsoft.com/office/drawing/2014/main" id="{D0F91759-B16D-ABD6-BA83-E117340F6815}"/>
              </a:ext>
            </a:extLst>
          </p:cNvPr>
          <p:cNvSpPr txBox="1"/>
          <p:nvPr/>
        </p:nvSpPr>
        <p:spPr>
          <a:xfrm>
            <a:off x="1125519" y="1952144"/>
            <a:ext cx="3739487" cy="3477875"/>
          </a:xfrm>
          <a:prstGeom prst="rect">
            <a:avLst/>
          </a:prstGeom>
          <a:noFill/>
        </p:spPr>
        <p:txBody>
          <a:bodyPr wrap="square" rtlCol="0">
            <a:spAutoFit/>
          </a:bodyPr>
          <a:lstStyle/>
          <a:p>
            <a:pPr marL="342900" indent="-342900">
              <a:buFont typeface="Arial" panose="020B0604020202020204" pitchFamily="34" charset="0"/>
              <a:buChar char="•"/>
            </a:pPr>
            <a:r>
              <a:rPr lang="en-US" sz="2000" i="1" dirty="0">
                <a:latin typeface="Calibri" panose="020F0502020204030204" pitchFamily="34" charset="0"/>
                <a:ea typeface="Calibri" panose="020F0502020204030204" pitchFamily="34" charset="0"/>
                <a:cs typeface="Calibri" panose="020F0502020204030204" pitchFamily="34" charset="0"/>
              </a:rPr>
              <a:t>Storylines were cleaned and tokenized into keywords using a custom NLP pipeline.</a:t>
            </a:r>
          </a:p>
          <a:p>
            <a:pPr marL="342900" indent="-342900">
              <a:buFont typeface="Arial" panose="020B0604020202020204" pitchFamily="34" charset="0"/>
              <a:buChar char="•"/>
            </a:pPr>
            <a:endParaRPr lang="en-US" sz="2000" i="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i="1" dirty="0">
                <a:latin typeface="Calibri" panose="020F0502020204030204" pitchFamily="34" charset="0"/>
                <a:ea typeface="Calibri" panose="020F0502020204030204" pitchFamily="34" charset="0"/>
                <a:cs typeface="Calibri" panose="020F0502020204030204" pitchFamily="34" charset="0"/>
              </a:rPr>
              <a:t>Extracted individual themes — such as ‘revenge,’ ‘family,’ ‘police,’ ‘space,’ ‘shapeshifting’ — and mapped them to piracy downloads to understand which themes resonate most with global pirate audiences.</a:t>
            </a:r>
          </a:p>
        </p:txBody>
      </p:sp>
      <p:pic>
        <p:nvPicPr>
          <p:cNvPr id="6" name="Picture 5">
            <a:extLst>
              <a:ext uri="{FF2B5EF4-FFF2-40B4-BE49-F238E27FC236}">
                <a16:creationId xmlns:a16="http://schemas.microsoft.com/office/drawing/2014/main" id="{9F54A162-1689-FA5F-2AA2-9CCAA3C567A2}"/>
              </a:ext>
            </a:extLst>
          </p:cNvPr>
          <p:cNvPicPr>
            <a:picLocks noChangeAspect="1"/>
          </p:cNvPicPr>
          <p:nvPr/>
        </p:nvPicPr>
        <p:blipFill>
          <a:blip r:embed="rId2"/>
          <a:stretch>
            <a:fillRect/>
          </a:stretch>
        </p:blipFill>
        <p:spPr>
          <a:xfrm>
            <a:off x="4735526" y="1275262"/>
            <a:ext cx="7394705" cy="4154757"/>
          </a:xfrm>
          <a:prstGeom prst="rect">
            <a:avLst/>
          </a:prstGeom>
        </p:spPr>
      </p:pic>
      <p:sp>
        <p:nvSpPr>
          <p:cNvPr id="7" name="TextBox 6">
            <a:extLst>
              <a:ext uri="{FF2B5EF4-FFF2-40B4-BE49-F238E27FC236}">
                <a16:creationId xmlns:a16="http://schemas.microsoft.com/office/drawing/2014/main" id="{CDF041AD-DDD1-90C5-9EC7-FC5EC34C5617}"/>
              </a:ext>
            </a:extLst>
          </p:cNvPr>
          <p:cNvSpPr txBox="1"/>
          <p:nvPr/>
        </p:nvSpPr>
        <p:spPr>
          <a:xfrm>
            <a:off x="4387508" y="5430019"/>
            <a:ext cx="8218473" cy="830997"/>
          </a:xfrm>
          <a:prstGeom prst="rect">
            <a:avLst/>
          </a:prstGeom>
          <a:noFill/>
        </p:spPr>
        <p:txBody>
          <a:bodyPr wrap="square" rtlCol="0">
            <a:spAutoFit/>
          </a:bodyPr>
          <a:lstStyle/>
          <a:p>
            <a:pPr marL="285750" indent="-285750">
              <a:buFont typeface="Wingdings" panose="05000000000000000000" pitchFamily="2" charset="2"/>
              <a:buChar char="Ø"/>
            </a:pPr>
            <a:r>
              <a:rPr lang="en-US" sz="1600" b="1" i="1" dirty="0">
                <a:solidFill>
                  <a:srgbClr val="1C6294"/>
                </a:solidFill>
                <a:latin typeface="Calibri" panose="020F0502020204030204" pitchFamily="34" charset="0"/>
                <a:ea typeface="Calibri" panose="020F0502020204030204" pitchFamily="34" charset="0"/>
                <a:cs typeface="Calibri" panose="020F0502020204030204" pitchFamily="34" charset="0"/>
              </a:rPr>
              <a:t>The word cloud visually highlights dominant themes.</a:t>
            </a:r>
            <a:br>
              <a:rPr lang="en-US" sz="1600" b="1" i="1" dirty="0">
                <a:solidFill>
                  <a:srgbClr val="1C6294"/>
                </a:solidFill>
                <a:latin typeface="Calibri" panose="020F0502020204030204" pitchFamily="34" charset="0"/>
                <a:ea typeface="Calibri" panose="020F0502020204030204" pitchFamily="34" charset="0"/>
                <a:cs typeface="Calibri" panose="020F0502020204030204" pitchFamily="34" charset="0"/>
              </a:rPr>
            </a:br>
            <a:r>
              <a:rPr lang="en-US" sz="1600" b="1" i="1" dirty="0">
                <a:solidFill>
                  <a:srgbClr val="1C6294"/>
                </a:solidFill>
                <a:latin typeface="Calibri" panose="020F0502020204030204" pitchFamily="34" charset="0"/>
                <a:ea typeface="Calibri" panose="020F0502020204030204" pitchFamily="34" charset="0"/>
                <a:cs typeface="Calibri" panose="020F0502020204030204" pitchFamily="34" charset="0"/>
              </a:rPr>
              <a:t>Larger words indicate themes with the highest total downloads.</a:t>
            </a:r>
            <a:br>
              <a:rPr lang="en-US" sz="1600" b="1" i="1" dirty="0">
                <a:solidFill>
                  <a:srgbClr val="1C6294"/>
                </a:solidFill>
                <a:latin typeface="Calibri" panose="020F0502020204030204" pitchFamily="34" charset="0"/>
                <a:ea typeface="Calibri" panose="020F0502020204030204" pitchFamily="34" charset="0"/>
                <a:cs typeface="Calibri" panose="020F0502020204030204" pitchFamily="34" charset="0"/>
              </a:rPr>
            </a:br>
            <a:r>
              <a:rPr lang="en-US" sz="1600" b="1" i="1" dirty="0">
                <a:solidFill>
                  <a:srgbClr val="1C6294"/>
                </a:solidFill>
                <a:latin typeface="Calibri" panose="020F0502020204030204" pitchFamily="34" charset="0"/>
                <a:ea typeface="Calibri" panose="020F0502020204030204" pitchFamily="34" charset="0"/>
                <a:cs typeface="Calibri" panose="020F0502020204030204" pitchFamily="34" charset="0"/>
              </a:rPr>
              <a:t>This helps quickly see what kind of narratives consistently drive global attention.</a:t>
            </a:r>
          </a:p>
        </p:txBody>
      </p:sp>
      <p:sp>
        <p:nvSpPr>
          <p:cNvPr id="3" name="TextBox 2">
            <a:extLst>
              <a:ext uri="{FF2B5EF4-FFF2-40B4-BE49-F238E27FC236}">
                <a16:creationId xmlns:a16="http://schemas.microsoft.com/office/drawing/2014/main" id="{1717810D-136C-AFDA-E423-79310D3B2364}"/>
              </a:ext>
            </a:extLst>
          </p:cNvPr>
          <p:cNvSpPr txBox="1"/>
          <p:nvPr/>
        </p:nvSpPr>
        <p:spPr>
          <a:xfrm>
            <a:off x="1255593" y="1248770"/>
            <a:ext cx="2081284" cy="461665"/>
          </a:xfrm>
          <a:prstGeom prst="rect">
            <a:avLst/>
          </a:prstGeom>
          <a:noFill/>
        </p:spPr>
        <p:txBody>
          <a:bodyPr wrap="square" rtlCol="0">
            <a:spAutoFit/>
          </a:bodyPr>
          <a:lstStyle/>
          <a:p>
            <a:r>
              <a:rPr lang="en-US" sz="2400" b="1" i="1" dirty="0">
                <a:latin typeface="Calibri" panose="020F0502020204030204" pitchFamily="34" charset="0"/>
                <a:ea typeface="Calibri" panose="020F0502020204030204" pitchFamily="34" charset="0"/>
                <a:cs typeface="Calibri" panose="020F0502020204030204" pitchFamily="34" charset="0"/>
              </a:rPr>
              <a:t>Key Insights:</a:t>
            </a:r>
          </a:p>
        </p:txBody>
      </p:sp>
      <p:sp>
        <p:nvSpPr>
          <p:cNvPr id="5" name="Slide Number Placeholder 4">
            <a:extLst>
              <a:ext uri="{FF2B5EF4-FFF2-40B4-BE49-F238E27FC236}">
                <a16:creationId xmlns:a16="http://schemas.microsoft.com/office/drawing/2014/main" id="{3F10E7A0-C33B-D0B9-1CF3-1DB730F36A23}"/>
              </a:ext>
            </a:extLst>
          </p:cNvPr>
          <p:cNvSpPr>
            <a:spLocks noGrp="1"/>
          </p:cNvSpPr>
          <p:nvPr>
            <p:ph type="sldNum" sz="quarter" idx="12"/>
          </p:nvPr>
        </p:nvSpPr>
        <p:spPr>
          <a:xfrm>
            <a:off x="11640833" y="648274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20</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p:cNvSpPr txBox="1"/>
          <p:nvPr/>
        </p:nvSpPr>
        <p:spPr>
          <a:xfrm>
            <a:off x="0" y="6388168"/>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 Genre Piracy   ○ Top Pirated   ○ Ratings vs Piracy   ○ Ratings Dist.   ○ Storyline NLP   ○ Story vs Downloads   ○ Keywords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NLP Extraction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Insights   ○ Business Value   ○ Conclusion   ○ Enhancements   ○ Thank You</a:t>
            </a:r>
          </a:p>
        </p:txBody>
      </p:sp>
    </p:spTree>
    <p:extLst>
      <p:ext uri="{BB962C8B-B14F-4D97-AF65-F5344CB8AC3E}">
        <p14:creationId xmlns:p14="http://schemas.microsoft.com/office/powerpoint/2010/main" val="3324411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66810-25DA-D23F-C719-B9A1C415A71E}"/>
              </a:ext>
            </a:extLst>
          </p:cNvPr>
          <p:cNvSpPr>
            <a:spLocks noGrp="1"/>
          </p:cNvSpPr>
          <p:nvPr>
            <p:ph type="title"/>
          </p:nvPr>
        </p:nvSpPr>
        <p:spPr>
          <a:xfrm>
            <a:off x="1263556" y="-126242"/>
            <a:ext cx="10513325" cy="733567"/>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INSIGHTS &amp; TAKEAWAYS</a:t>
            </a:r>
          </a:p>
        </p:txBody>
      </p:sp>
      <p:sp>
        <p:nvSpPr>
          <p:cNvPr id="4" name="TextBox 3">
            <a:extLst>
              <a:ext uri="{FF2B5EF4-FFF2-40B4-BE49-F238E27FC236}">
                <a16:creationId xmlns:a16="http://schemas.microsoft.com/office/drawing/2014/main" id="{31441CDF-3B83-45E3-4A95-305C967D4269}"/>
              </a:ext>
            </a:extLst>
          </p:cNvPr>
          <p:cNvSpPr txBox="1"/>
          <p:nvPr/>
        </p:nvSpPr>
        <p:spPr>
          <a:xfrm>
            <a:off x="1433015" y="823345"/>
            <a:ext cx="10174406" cy="954107"/>
          </a:xfrm>
          <a:prstGeom prst="rect">
            <a:avLst/>
          </a:prstGeom>
          <a:noFill/>
        </p:spPr>
        <p:txBody>
          <a:bodyPr wrap="square" rtlCol="0">
            <a:spAutoFit/>
          </a:bodyPr>
          <a:lstStyle/>
          <a:p>
            <a:pPr marL="457200" indent="-457200">
              <a:buFont typeface="Wingdings" panose="05000000000000000000" pitchFamily="2" charset="2"/>
              <a:buChar char="Ø"/>
            </a:pPr>
            <a:r>
              <a:rPr lang="en-US" sz="2800" b="1" i="1" dirty="0">
                <a:solidFill>
                  <a:srgbClr val="1C6294"/>
                </a:solidFill>
                <a:latin typeface="Calibri" panose="020F0502020204030204" pitchFamily="34" charset="0"/>
                <a:ea typeface="Calibri" panose="020F0502020204030204" pitchFamily="34" charset="0"/>
                <a:cs typeface="Calibri" panose="020F0502020204030204" pitchFamily="34" charset="0"/>
              </a:rPr>
              <a:t>To summarize the findings:</a:t>
            </a:r>
          </a:p>
          <a:p>
            <a:endParaRPr lang="en-US" sz="2800" b="1" i="1" dirty="0">
              <a:solidFill>
                <a:srgbClr val="1C6294"/>
              </a:solidFill>
              <a:latin typeface="Calibri" panose="020F0502020204030204" pitchFamily="34" charset="0"/>
              <a:ea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C13D5109-ECCA-DE27-1EBC-188AC3149AC0}"/>
              </a:ext>
            </a:extLst>
          </p:cNvPr>
          <p:cNvSpPr>
            <a:spLocks noChangeArrowheads="1"/>
          </p:cNvSpPr>
          <p:nvPr/>
        </p:nvSpPr>
        <p:spPr bwMode="auto">
          <a:xfrm>
            <a:off x="1263556" y="1587887"/>
            <a:ext cx="8789158" cy="3682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Piracy activity reveals hidden popularity</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Ratings influence downloads but not consistently</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Genre clusters show predictable audience patterns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Keywords uncover emotional/plot drivers of virality</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NLP + analytics create a holistic movie success model</a:t>
            </a:r>
          </a:p>
        </p:txBody>
      </p:sp>
      <p:sp>
        <p:nvSpPr>
          <p:cNvPr id="5" name="Slide Number Placeholder 4">
            <a:extLst>
              <a:ext uri="{FF2B5EF4-FFF2-40B4-BE49-F238E27FC236}">
                <a16:creationId xmlns:a16="http://schemas.microsoft.com/office/drawing/2014/main" id="{74618BC9-2F8E-FF7A-6CE7-1E9278DAB6BC}"/>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21</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p:cNvSpPr txBox="1"/>
          <p:nvPr/>
        </p:nvSpPr>
        <p:spPr>
          <a:xfrm>
            <a:off x="0" y="6336883"/>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 Genre Piracy   ○ Top Pirated   ○ Ratings vs Piracy   ○ Ratings Dist.   ○ Storyline NLP   ○ Story vs Downloads   ○ Keywords   ○ NLP Extraction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Insights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Business Value   ○ Conclusion   ○ Enhancements   ○ Thank You</a:t>
            </a:r>
          </a:p>
        </p:txBody>
      </p:sp>
    </p:spTree>
    <p:extLst>
      <p:ext uri="{BB962C8B-B14F-4D97-AF65-F5344CB8AC3E}">
        <p14:creationId xmlns:p14="http://schemas.microsoft.com/office/powerpoint/2010/main" val="3233370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94C52-55BD-384A-C5F3-F7CC931F40C2}"/>
              </a:ext>
            </a:extLst>
          </p:cNvPr>
          <p:cNvSpPr>
            <a:spLocks noGrp="1"/>
          </p:cNvSpPr>
          <p:nvPr>
            <p:ph type="title"/>
          </p:nvPr>
        </p:nvSpPr>
        <p:spPr>
          <a:xfrm>
            <a:off x="921224" y="-214952"/>
            <a:ext cx="10349552" cy="883693"/>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BUSINESS VALUE</a:t>
            </a:r>
          </a:p>
        </p:txBody>
      </p:sp>
      <p:sp>
        <p:nvSpPr>
          <p:cNvPr id="5" name="TextBox 4">
            <a:extLst>
              <a:ext uri="{FF2B5EF4-FFF2-40B4-BE49-F238E27FC236}">
                <a16:creationId xmlns:a16="http://schemas.microsoft.com/office/drawing/2014/main" id="{9795916B-4F9D-2024-F7C9-A7B5A7F0DC67}"/>
              </a:ext>
            </a:extLst>
          </p:cNvPr>
          <p:cNvSpPr txBox="1"/>
          <p:nvPr/>
        </p:nvSpPr>
        <p:spPr>
          <a:xfrm>
            <a:off x="1385248" y="4695504"/>
            <a:ext cx="10529248" cy="1200329"/>
          </a:xfrm>
          <a:prstGeom prst="rect">
            <a:avLst/>
          </a:prstGeom>
          <a:noFill/>
        </p:spPr>
        <p:txBody>
          <a:bodyPr wrap="square" rtlCol="0">
            <a:spAutoFit/>
          </a:bodyPr>
          <a:lstStyle/>
          <a:p>
            <a:pPr marL="342900" indent="-342900">
              <a:buFont typeface="Wingdings" panose="05000000000000000000" pitchFamily="2" charset="2"/>
              <a:buChar char="Ø"/>
            </a:pPr>
            <a:r>
              <a:rPr lang="en-US" sz="2400" b="1" i="1" dirty="0">
                <a:solidFill>
                  <a:srgbClr val="1C6294"/>
                </a:solidFill>
                <a:latin typeface="Calibri" panose="020F0502020204030204" pitchFamily="34" charset="0"/>
                <a:ea typeface="Calibri" panose="020F0502020204030204" pitchFamily="34" charset="0"/>
                <a:cs typeface="Calibri" panose="020F0502020204030204" pitchFamily="34" charset="0"/>
              </a:rPr>
              <a:t>These insights can be used by streaming platforms, distributors, and filmmakers to strategically forecast demand, protect high-risk films from piracy, and design stories that capture global attention.</a:t>
            </a:r>
          </a:p>
        </p:txBody>
      </p:sp>
      <p:sp>
        <p:nvSpPr>
          <p:cNvPr id="3" name="TextBox 2">
            <a:extLst>
              <a:ext uri="{FF2B5EF4-FFF2-40B4-BE49-F238E27FC236}">
                <a16:creationId xmlns:a16="http://schemas.microsoft.com/office/drawing/2014/main" id="{F29C185A-E16D-1271-C5E1-08D31576ABB2}"/>
              </a:ext>
            </a:extLst>
          </p:cNvPr>
          <p:cNvSpPr txBox="1"/>
          <p:nvPr/>
        </p:nvSpPr>
        <p:spPr>
          <a:xfrm>
            <a:off x="1385248" y="737449"/>
            <a:ext cx="8734567"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b="1" i="1" dirty="0">
                <a:solidFill>
                  <a:srgbClr val="1C6294"/>
                </a:solidFill>
                <a:latin typeface="Calibri" panose="020F0502020204030204" pitchFamily="34" charset="0"/>
                <a:ea typeface="Calibri" panose="020F0502020204030204" pitchFamily="34" charset="0"/>
                <a:cs typeface="Calibri" panose="020F0502020204030204" pitchFamily="34" charset="0"/>
              </a:rPr>
              <a:t>Applications for Film Studios</a:t>
            </a:r>
          </a:p>
        </p:txBody>
      </p:sp>
      <p:sp>
        <p:nvSpPr>
          <p:cNvPr id="7" name="Rectangle 1">
            <a:extLst>
              <a:ext uri="{FF2B5EF4-FFF2-40B4-BE49-F238E27FC236}">
                <a16:creationId xmlns:a16="http://schemas.microsoft.com/office/drawing/2014/main" id="{0051A11B-0BF2-12A2-0DB5-A2C75E3C5ACF}"/>
              </a:ext>
            </a:extLst>
          </p:cNvPr>
          <p:cNvSpPr>
            <a:spLocks noChangeArrowheads="1"/>
          </p:cNvSpPr>
          <p:nvPr/>
        </p:nvSpPr>
        <p:spPr bwMode="auto">
          <a:xfrm>
            <a:off x="1471684" y="1329377"/>
            <a:ext cx="6212006" cy="3045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kumimoji="0" lang="en-US" altLang="en-US" sz="20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Forecast movie performance early</a:t>
            </a:r>
          </a:p>
          <a:p>
            <a:pPr marL="342900" marR="0" lvl="0" indent="-342900" algn="l"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kumimoji="0" lang="en-US" altLang="en-US" sz="20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Identify profitable genres &amp; keyword themes</a:t>
            </a:r>
          </a:p>
          <a:p>
            <a:pPr marL="342900" marR="0" lvl="0" indent="-342900" algn="l"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kumimoji="0" lang="en-US" altLang="en-US" sz="20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Detect piracy-risk movies before release</a:t>
            </a:r>
          </a:p>
          <a:p>
            <a:pPr marL="342900" marR="0" lvl="0" indent="-342900" algn="l" defTabSz="914400" rtl="0" eaLnBrk="0" fontAlgn="base" latinLnBrk="0" hangingPunct="0">
              <a:lnSpc>
                <a:spcPct val="250000"/>
              </a:lnSpc>
              <a:spcBef>
                <a:spcPct val="0"/>
              </a:spcBef>
              <a:spcAft>
                <a:spcPct val="0"/>
              </a:spcAft>
              <a:buClrTx/>
              <a:buSzTx/>
              <a:buFont typeface="Arial" panose="020B0604020202020204" pitchFamily="34" charset="0"/>
              <a:buChar char="•"/>
              <a:tabLst/>
            </a:pPr>
            <a:r>
              <a:rPr kumimoji="0" lang="en-US" altLang="en-US" sz="20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Improve marketing strategies using storyline analytics</a:t>
            </a:r>
          </a:p>
        </p:txBody>
      </p:sp>
      <p:sp>
        <p:nvSpPr>
          <p:cNvPr id="4" name="Slide Number Placeholder 3">
            <a:extLst>
              <a:ext uri="{FF2B5EF4-FFF2-40B4-BE49-F238E27FC236}">
                <a16:creationId xmlns:a16="http://schemas.microsoft.com/office/drawing/2014/main" id="{7AE0F2C0-1BE5-A519-C29F-F90BFFC15B2A}"/>
              </a:ext>
            </a:extLst>
          </p:cNvPr>
          <p:cNvSpPr>
            <a:spLocks noGrp="1"/>
          </p:cNvSpPr>
          <p:nvPr>
            <p:ph type="sldNum" sz="quarter" idx="12"/>
          </p:nvPr>
        </p:nvSpPr>
        <p:spPr>
          <a:xfrm>
            <a:off x="11638912"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22</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p:cNvSpPr txBox="1"/>
          <p:nvPr/>
        </p:nvSpPr>
        <p:spPr>
          <a:xfrm>
            <a:off x="1921" y="6405122"/>
            <a:ext cx="12190079"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 Genre Piracy   ○ Top Pirated   ○ Ratings vs Piracy   ○ Ratings Dist.   ○ Storyline NLP   ○ Story vs Downloads   ○ Keywords   ○ NLP Extraction   ○ Insights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Business Value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Conclusion   ○ Enhancements   ○ Thank You</a:t>
            </a:r>
          </a:p>
        </p:txBody>
      </p:sp>
    </p:spTree>
    <p:extLst>
      <p:ext uri="{BB962C8B-B14F-4D97-AF65-F5344CB8AC3E}">
        <p14:creationId xmlns:p14="http://schemas.microsoft.com/office/powerpoint/2010/main" val="1837461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3636-3823-B949-D91E-AA667672A190}"/>
              </a:ext>
            </a:extLst>
          </p:cNvPr>
          <p:cNvSpPr>
            <a:spLocks noGrp="1"/>
          </p:cNvSpPr>
          <p:nvPr>
            <p:ph type="title"/>
          </p:nvPr>
        </p:nvSpPr>
        <p:spPr>
          <a:xfrm>
            <a:off x="1680438" y="-129654"/>
            <a:ext cx="10315433" cy="767687"/>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3" name="Content Placeholder 2">
            <a:extLst>
              <a:ext uri="{FF2B5EF4-FFF2-40B4-BE49-F238E27FC236}">
                <a16:creationId xmlns:a16="http://schemas.microsoft.com/office/drawing/2014/main" id="{7937BD9F-CD5A-9C7F-4BF4-EA3FC762A501}"/>
              </a:ext>
            </a:extLst>
          </p:cNvPr>
          <p:cNvSpPr>
            <a:spLocks noGrp="1"/>
          </p:cNvSpPr>
          <p:nvPr>
            <p:ph idx="1"/>
          </p:nvPr>
        </p:nvSpPr>
        <p:spPr>
          <a:xfrm>
            <a:off x="1484310" y="777923"/>
            <a:ext cx="10707690" cy="5013278"/>
          </a:xfrm>
        </p:spPr>
        <p:txBody>
          <a:bodyPr/>
          <a:lstStyle/>
          <a:p>
            <a:pPr>
              <a:buClr>
                <a:srgbClr val="1C6294"/>
              </a:buClr>
              <a:buFont typeface="Wingdings" panose="05000000000000000000" pitchFamily="2" charset="2"/>
              <a:buChar char="Ø"/>
            </a:pPr>
            <a:r>
              <a:rPr lang="en-US" sz="2800" b="1" i="1" dirty="0">
                <a:solidFill>
                  <a:srgbClr val="1C6294"/>
                </a:solidFill>
              </a:rPr>
              <a:t>Final Summary:</a:t>
            </a:r>
          </a:p>
          <a:p>
            <a:pPr>
              <a:buFont typeface="Wingdings" panose="05000000000000000000" pitchFamily="2" charset="2"/>
              <a:buChar char="Ø"/>
            </a:pPr>
            <a:endParaRPr lang="en-US" b="1" dirty="0"/>
          </a:p>
          <a:p>
            <a:pPr>
              <a:lnSpc>
                <a:spcPct val="250000"/>
              </a:lnSpc>
              <a:buClr>
                <a:schemeClr val="tx1">
                  <a:lumMod val="95000"/>
                  <a:lumOff val="5000"/>
                </a:schemeClr>
              </a:buClr>
            </a:pPr>
            <a:r>
              <a:rPr lang="en-US" i="1" dirty="0"/>
              <a:t>Analytics + NLP reveal hidden audience patterns</a:t>
            </a:r>
          </a:p>
          <a:p>
            <a:pPr>
              <a:lnSpc>
                <a:spcPct val="250000"/>
              </a:lnSpc>
              <a:buClr>
                <a:schemeClr val="tx1">
                  <a:lumMod val="95000"/>
                  <a:lumOff val="5000"/>
                </a:schemeClr>
              </a:buClr>
            </a:pPr>
            <a:r>
              <a:rPr lang="en-US" i="1" dirty="0"/>
              <a:t>Piracy data is a strong signal for movie attention</a:t>
            </a:r>
          </a:p>
          <a:p>
            <a:pPr>
              <a:lnSpc>
                <a:spcPct val="250000"/>
              </a:lnSpc>
              <a:buClr>
                <a:schemeClr val="tx1">
                  <a:lumMod val="95000"/>
                  <a:lumOff val="5000"/>
                </a:schemeClr>
              </a:buClr>
            </a:pPr>
            <a:r>
              <a:rPr lang="en-US" i="1" dirty="0"/>
              <a:t>Multi-dashboard system enables strategic insights</a:t>
            </a:r>
          </a:p>
          <a:p>
            <a:pPr>
              <a:buFont typeface="Wingdings" panose="05000000000000000000" pitchFamily="2" charset="2"/>
              <a:buChar char="Ø"/>
            </a:pPr>
            <a:endParaRPr lang="en-US" dirty="0"/>
          </a:p>
        </p:txBody>
      </p:sp>
      <p:sp>
        <p:nvSpPr>
          <p:cNvPr id="4" name="Slide Number Placeholder 3">
            <a:extLst>
              <a:ext uri="{FF2B5EF4-FFF2-40B4-BE49-F238E27FC236}">
                <a16:creationId xmlns:a16="http://schemas.microsoft.com/office/drawing/2014/main" id="{2E4F2681-D8E2-4976-2E16-61C49B9F6673}"/>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23</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p:cNvSpPr txBox="1"/>
          <p:nvPr/>
        </p:nvSpPr>
        <p:spPr>
          <a:xfrm>
            <a:off x="0" y="6336883"/>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 Genre Piracy   ○ Top Pirated   ○ Ratings vs Piracy   ○ Ratings Dist.   ○ Storyline NLP   ○ Story vs Downloads   ○ Keywords   ○ NLP Extraction   ○ Insights   ○ Business Value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Conclusion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Enhancements   ○ Thank You</a:t>
            </a:r>
          </a:p>
        </p:txBody>
      </p:sp>
    </p:spTree>
    <p:extLst>
      <p:ext uri="{BB962C8B-B14F-4D97-AF65-F5344CB8AC3E}">
        <p14:creationId xmlns:p14="http://schemas.microsoft.com/office/powerpoint/2010/main" val="2034597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77674-2399-04FF-CC9F-7CF75F280CDE}"/>
              </a:ext>
            </a:extLst>
          </p:cNvPr>
          <p:cNvSpPr>
            <a:spLocks noGrp="1"/>
          </p:cNvSpPr>
          <p:nvPr>
            <p:ph type="title"/>
          </p:nvPr>
        </p:nvSpPr>
        <p:spPr>
          <a:xfrm>
            <a:off x="1372344" y="-156950"/>
            <a:ext cx="10420066" cy="730155"/>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FUTURE ENHANCEMENTS</a:t>
            </a:r>
          </a:p>
        </p:txBody>
      </p:sp>
      <p:sp>
        <p:nvSpPr>
          <p:cNvPr id="3" name="Content Placeholder 2">
            <a:extLst>
              <a:ext uri="{FF2B5EF4-FFF2-40B4-BE49-F238E27FC236}">
                <a16:creationId xmlns:a16="http://schemas.microsoft.com/office/drawing/2014/main" id="{20862FF7-2F75-80F0-BB8C-CFAAD81114E7}"/>
              </a:ext>
            </a:extLst>
          </p:cNvPr>
          <p:cNvSpPr>
            <a:spLocks noGrp="1"/>
          </p:cNvSpPr>
          <p:nvPr>
            <p:ph idx="1"/>
          </p:nvPr>
        </p:nvSpPr>
        <p:spPr>
          <a:xfrm>
            <a:off x="1573021" y="830238"/>
            <a:ext cx="10018713" cy="5197523"/>
          </a:xfrm>
        </p:spPr>
        <p:txBody>
          <a:bodyPr>
            <a:normAutofit fontScale="92500" lnSpcReduction="10000"/>
          </a:bodyPr>
          <a:lstStyle/>
          <a:p>
            <a:pPr>
              <a:buClr>
                <a:srgbClr val="1C6294"/>
              </a:buClr>
              <a:buFont typeface="Wingdings" panose="05000000000000000000" pitchFamily="2" charset="2"/>
              <a:buChar char="Ø"/>
            </a:pPr>
            <a:r>
              <a:rPr lang="en-US" sz="3500" b="1" i="1" dirty="0">
                <a:solidFill>
                  <a:srgbClr val="1C6294"/>
                </a:solidFill>
                <a:latin typeface="Calibri" panose="020F0502020204030204" pitchFamily="34" charset="0"/>
                <a:ea typeface="Calibri" panose="020F0502020204030204" pitchFamily="34" charset="0"/>
                <a:cs typeface="Calibri" panose="020F0502020204030204" pitchFamily="34" charset="0"/>
              </a:rPr>
              <a:t>What Can Be Added Next In This Project :</a:t>
            </a:r>
          </a:p>
          <a:p>
            <a:pPr>
              <a:buFont typeface="Wingdings" panose="05000000000000000000" pitchFamily="2" charset="2"/>
              <a:buChar char="Ø"/>
            </a:pPr>
            <a:endParaRPr lang="en-US" b="1" dirty="0">
              <a:latin typeface="Calibri" panose="020F0502020204030204" pitchFamily="34" charset="0"/>
              <a:ea typeface="Calibri" panose="020F0502020204030204" pitchFamily="34" charset="0"/>
              <a:cs typeface="Calibri" panose="020F0502020204030204" pitchFamily="34" charset="0"/>
            </a:endParaRPr>
          </a:p>
          <a:p>
            <a:pPr>
              <a:lnSpc>
                <a:spcPct val="200000"/>
              </a:lnSpc>
              <a:buClr>
                <a:schemeClr val="tx1">
                  <a:lumMod val="95000"/>
                  <a:lumOff val="5000"/>
                </a:schemeClr>
              </a:buClr>
            </a:pPr>
            <a:r>
              <a:rPr lang="en-US" i="1" dirty="0">
                <a:latin typeface="Calibri" panose="020F0502020204030204" pitchFamily="34" charset="0"/>
                <a:ea typeface="Calibri" panose="020F0502020204030204" pitchFamily="34" charset="0"/>
                <a:cs typeface="Calibri" panose="020F0502020204030204" pitchFamily="34" charset="0"/>
              </a:rPr>
              <a:t>Deeper NLP sentiment analysis</a:t>
            </a:r>
          </a:p>
          <a:p>
            <a:pPr>
              <a:lnSpc>
                <a:spcPct val="200000"/>
              </a:lnSpc>
              <a:buClr>
                <a:schemeClr val="tx1">
                  <a:lumMod val="95000"/>
                  <a:lumOff val="5000"/>
                </a:schemeClr>
              </a:buClr>
            </a:pPr>
            <a:r>
              <a:rPr lang="en-US" i="1" dirty="0">
                <a:latin typeface="Calibri" panose="020F0502020204030204" pitchFamily="34" charset="0"/>
                <a:ea typeface="Calibri" panose="020F0502020204030204" pitchFamily="34" charset="0"/>
                <a:cs typeface="Calibri" panose="020F0502020204030204" pitchFamily="34" charset="0"/>
              </a:rPr>
              <a:t>Machine learning success prediction</a:t>
            </a:r>
          </a:p>
          <a:p>
            <a:pPr>
              <a:lnSpc>
                <a:spcPct val="200000"/>
              </a:lnSpc>
              <a:buClr>
                <a:schemeClr val="tx1">
                  <a:lumMod val="95000"/>
                  <a:lumOff val="5000"/>
                </a:schemeClr>
              </a:buClr>
            </a:pPr>
            <a:r>
              <a:rPr lang="en-US" i="1" dirty="0">
                <a:latin typeface="Calibri" panose="020F0502020204030204" pitchFamily="34" charset="0"/>
                <a:ea typeface="Calibri" panose="020F0502020204030204" pitchFamily="34" charset="0"/>
                <a:cs typeface="Calibri" panose="020F0502020204030204" pitchFamily="34" charset="0"/>
              </a:rPr>
              <a:t>Predicting piracy before release</a:t>
            </a:r>
          </a:p>
          <a:p>
            <a:pPr>
              <a:lnSpc>
                <a:spcPct val="200000"/>
              </a:lnSpc>
              <a:buClr>
                <a:schemeClr val="tx1">
                  <a:lumMod val="95000"/>
                  <a:lumOff val="5000"/>
                </a:schemeClr>
              </a:buClr>
            </a:pPr>
            <a:r>
              <a:rPr lang="en-US" i="1" dirty="0">
                <a:latin typeface="Calibri" panose="020F0502020204030204" pitchFamily="34" charset="0"/>
                <a:ea typeface="Calibri" panose="020F0502020204030204" pitchFamily="34" charset="0"/>
                <a:cs typeface="Calibri" panose="020F0502020204030204" pitchFamily="34" charset="0"/>
              </a:rPr>
              <a:t>Revenue forecasting models</a:t>
            </a:r>
          </a:p>
          <a:p>
            <a:pPr>
              <a:lnSpc>
                <a:spcPct val="200000"/>
              </a:lnSpc>
              <a:buClr>
                <a:schemeClr val="tx1">
                  <a:lumMod val="95000"/>
                  <a:lumOff val="5000"/>
                </a:schemeClr>
              </a:buClr>
            </a:pPr>
            <a:r>
              <a:rPr lang="en-US" i="1" dirty="0">
                <a:latin typeface="Calibri" panose="020F0502020204030204" pitchFamily="34" charset="0"/>
                <a:ea typeface="Calibri" panose="020F0502020204030204" pitchFamily="34" charset="0"/>
                <a:cs typeface="Calibri" panose="020F0502020204030204" pitchFamily="34" charset="0"/>
              </a:rPr>
              <a:t>Incorporating streaming platform data</a:t>
            </a:r>
          </a:p>
          <a:p>
            <a:pPr>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8BF0261-056F-FDB7-F682-2A46177C122D}"/>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24</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p:cNvSpPr txBox="1"/>
          <p:nvPr/>
        </p:nvSpPr>
        <p:spPr>
          <a:xfrm>
            <a:off x="0" y="6336883"/>
            <a:ext cx="12192000"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 Genre Piracy   ○ Top Pirated   ○ Ratings vs Piracy   ○ Ratings Dist.   ○ Storyline NLP   ○ Story vs Downloads   ○ Keywords   ○ NLP Extraction   ○ Insights   ○ Business Value   ○ Conclusion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Enhancements   </a:t>
            </a: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Thank You</a:t>
            </a:r>
          </a:p>
        </p:txBody>
      </p:sp>
    </p:spTree>
    <p:extLst>
      <p:ext uri="{BB962C8B-B14F-4D97-AF65-F5344CB8AC3E}">
        <p14:creationId xmlns:p14="http://schemas.microsoft.com/office/powerpoint/2010/main" val="1088016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2CED7-091C-1E6D-5120-DB098B652994}"/>
              </a:ext>
            </a:extLst>
          </p:cNvPr>
          <p:cNvSpPr>
            <a:spLocks noGrp="1"/>
          </p:cNvSpPr>
          <p:nvPr>
            <p:ph type="title"/>
          </p:nvPr>
        </p:nvSpPr>
        <p:spPr>
          <a:xfrm>
            <a:off x="81887" y="1907274"/>
            <a:ext cx="12191999" cy="1752599"/>
          </a:xfrm>
        </p:spPr>
        <p:txBody>
          <a:bodyPr/>
          <a:lstStyle/>
          <a:p>
            <a:r>
              <a:rPr lang="en-US" b="1" i="1" dirty="0">
                <a:latin typeface="Calibri" panose="020F0502020204030204" pitchFamily="34" charset="0"/>
                <a:ea typeface="Calibri" panose="020F0502020204030204" pitchFamily="34" charset="0"/>
                <a:cs typeface="Calibri" panose="020F0502020204030204" pitchFamily="34" charset="0"/>
              </a:rPr>
              <a:t>THANK YOU FOR YOUR PATIENCE</a:t>
            </a:r>
          </a:p>
        </p:txBody>
      </p:sp>
      <p:sp>
        <p:nvSpPr>
          <p:cNvPr id="3" name="Content Placeholder 2">
            <a:extLst>
              <a:ext uri="{FF2B5EF4-FFF2-40B4-BE49-F238E27FC236}">
                <a16:creationId xmlns:a16="http://schemas.microsoft.com/office/drawing/2014/main" id="{463258DE-65E4-7FAA-4EA5-DA5A2FF8FB61}"/>
              </a:ext>
            </a:extLst>
          </p:cNvPr>
          <p:cNvSpPr>
            <a:spLocks noGrp="1"/>
          </p:cNvSpPr>
          <p:nvPr>
            <p:ph idx="1"/>
          </p:nvPr>
        </p:nvSpPr>
        <p:spPr>
          <a:xfrm>
            <a:off x="2" y="3527945"/>
            <a:ext cx="12191998" cy="541361"/>
          </a:xfrm>
        </p:spPr>
        <p:txBody>
          <a:bodyPr>
            <a:normAutofit/>
          </a:bodyPr>
          <a:lstStyle/>
          <a:p>
            <a:pPr marL="0" indent="0" algn="ctr">
              <a:buNone/>
            </a:pPr>
            <a:r>
              <a:rPr lang="en-US" sz="2800" b="1" i="1" dirty="0">
                <a:solidFill>
                  <a:srgbClr val="1C6294"/>
                </a:solidFill>
                <a:latin typeface="Calibri" panose="020F0502020204030204" pitchFamily="34" charset="0"/>
                <a:ea typeface="Calibri" panose="020F0502020204030204" pitchFamily="34" charset="0"/>
                <a:cs typeface="Calibri" panose="020F0502020204030204" pitchFamily="34" charset="0"/>
              </a:rPr>
              <a:t>Questions ?</a:t>
            </a:r>
          </a:p>
        </p:txBody>
      </p:sp>
      <p:sp>
        <p:nvSpPr>
          <p:cNvPr id="4" name="Slide Number Placeholder 3">
            <a:extLst>
              <a:ext uri="{FF2B5EF4-FFF2-40B4-BE49-F238E27FC236}">
                <a16:creationId xmlns:a16="http://schemas.microsoft.com/office/drawing/2014/main" id="{619CDBFF-0429-8B48-6A0C-773011AAEB0F}"/>
              </a:ext>
            </a:extLst>
          </p:cNvPr>
          <p:cNvSpPr>
            <a:spLocks noGrp="1"/>
          </p:cNvSpPr>
          <p:nvPr>
            <p:ph type="sldNum" sz="quarter" idx="12"/>
          </p:nvPr>
        </p:nvSpPr>
        <p:spPr>
          <a:xfrm>
            <a:off x="11640833" y="6492875"/>
            <a:ext cx="551167" cy="365125"/>
          </a:xfrm>
        </p:spPr>
        <p:txBody>
          <a:bodyPr/>
          <a:lstStyle/>
          <a:p>
            <a:fld id="{F976A79D-B037-4BD6-B8AD-8444F1737EAE}" type="slidenum">
              <a:rPr lang="en-US" sz="1200" smtClean="0">
                <a:latin typeface="Calibri" panose="020F0502020204030204" pitchFamily="34" charset="0"/>
                <a:ea typeface="Calibri" panose="020F0502020204030204" pitchFamily="34" charset="0"/>
                <a:cs typeface="Calibri" panose="020F0502020204030204" pitchFamily="34" charset="0"/>
              </a:rPr>
              <a:t>25</a:t>
            </a:fld>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p:cNvSpPr txBox="1"/>
          <p:nvPr/>
        </p:nvSpPr>
        <p:spPr>
          <a:xfrm>
            <a:off x="0" y="6323598"/>
            <a:ext cx="12191998" cy="338554"/>
          </a:xfrm>
          <a:prstGeom prst="rect">
            <a:avLst/>
          </a:prstGeom>
          <a:noFill/>
        </p:spPr>
        <p:txBody>
          <a:bodyPr wrap="square">
            <a:spAutoFit/>
          </a:bodyPr>
          <a:lstStyle/>
          <a:p>
            <a:pPr algn="ctr"/>
            <a:r>
              <a:rPr sz="800" b="1" i="1" dirty="0">
                <a:solidFill>
                  <a:srgbClr val="999999"/>
                </a:solidFill>
                <a:latin typeface="Calibri" panose="020F0502020204030204" pitchFamily="34" charset="0"/>
                <a:ea typeface="Calibri" panose="020F0502020204030204" pitchFamily="34" charset="0"/>
                <a:cs typeface="Calibri" panose="020F0502020204030204" pitchFamily="34" charset="0"/>
              </a:rPr>
              <a:t>○ Title   ○ Intro   ○ Goals   ○ Dataset   ○ Data Model   ○ Summary   ○ Genre Ratings   ○ Budget vs Downloads   ○ Avg Budget – Genre   ○ Avg Budget – Industry   ○ Genre Families   ○ Top Revenue   ○ Genre Piracy   ○ Top Pirated   ○ Ratings vs Piracy   ○ Ratings Dist.   ○ Storyline NLP   ○ Story vs Downloads   ○ Keywords   ○ NLP Extraction   ○ Insights   ○ Business Value   ○ Conclusion   ○ Enhancements   </a:t>
            </a:r>
            <a:r>
              <a:rPr sz="800" b="1" i="1" dirty="0">
                <a:solidFill>
                  <a:srgbClr val="1C6294"/>
                </a:solidFill>
                <a:latin typeface="Calibri" panose="020F0502020204030204" pitchFamily="34" charset="0"/>
                <a:ea typeface="Calibri" panose="020F0502020204030204" pitchFamily="34" charset="0"/>
                <a:cs typeface="Calibri" panose="020F0502020204030204" pitchFamily="34" charset="0"/>
              </a:rPr>
              <a:t>● Thank You</a:t>
            </a:r>
          </a:p>
        </p:txBody>
      </p:sp>
    </p:spTree>
    <p:extLst>
      <p:ext uri="{BB962C8B-B14F-4D97-AF65-F5344CB8AC3E}">
        <p14:creationId xmlns:p14="http://schemas.microsoft.com/office/powerpoint/2010/main" val="7226935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Custom 1">
      <a:dk1>
        <a:sysClr val="windowText" lastClr="000000"/>
      </a:dk1>
      <a:lt1>
        <a:sysClr val="window" lastClr="FFFFFF"/>
      </a:lt1>
      <a:dk2>
        <a:srgbClr val="335B74"/>
      </a:dk2>
      <a:lt2>
        <a:srgbClr val="DFE3E5"/>
      </a:lt2>
      <a:accent1>
        <a:srgbClr val="1C6294"/>
      </a:accent1>
      <a:accent2>
        <a:srgbClr val="1C6294"/>
      </a:accent2>
      <a:accent3>
        <a:srgbClr val="27CED7"/>
      </a:accent3>
      <a:accent4>
        <a:srgbClr val="42BA97"/>
      </a:accent4>
      <a:accent5>
        <a:srgbClr val="3E8853"/>
      </a:accent5>
      <a:accent6>
        <a:srgbClr val="62A39F"/>
      </a:accent6>
      <a:hlink>
        <a:srgbClr val="6EAC1C"/>
      </a:hlink>
      <a:folHlink>
        <a:srgbClr val="B26B02"/>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8546</TotalTime>
  <Words>3604</Words>
  <Application>Microsoft Office PowerPoint</Application>
  <PresentationFormat>Widescreen</PresentationFormat>
  <Paragraphs>243</Paragraphs>
  <Slides>25</Slides>
  <Notes>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Arial</vt:lpstr>
      <vt:lpstr>Calibri</vt:lpstr>
      <vt:lpstr>Corbel</vt:lpstr>
      <vt:lpstr>Wingdings</vt:lpstr>
      <vt:lpstr>Parallax</vt:lpstr>
      <vt:lpstr>     From Script to Screen  Predicting Movie Success with Analytics &amp; Piracy Insights  </vt:lpstr>
      <vt:lpstr>From Script to Screen: Predicting Movie Success with Analytics &amp; Piracy Insights</vt:lpstr>
      <vt:lpstr>INTRODUCTION &amp; PROJECT GOALS</vt:lpstr>
      <vt:lpstr>DATASET OVERVIEW</vt:lpstr>
      <vt:lpstr>         POWER BI DATA MODEL:            Relationships across metadata → piracy behavior</vt:lpstr>
      <vt:lpstr>TOTAL DATASET SUMMARY DASHBOARD</vt:lpstr>
      <vt:lpstr>DISTRIBUTION OF GENRES WITH USER RATINGS </vt:lpstr>
      <vt:lpstr>BUDGET VS DOWNLOADS</vt:lpstr>
      <vt:lpstr>AVERAGE BUDGET BY GENRE</vt:lpstr>
      <vt:lpstr>AVERAGE BUDGET BY INDUSTRY</vt:lpstr>
      <vt:lpstr>GENRE FAMILY ANALYSIS</vt:lpstr>
      <vt:lpstr>TOP 20 HIGH REVENUE MOVIES</vt:lpstr>
      <vt:lpstr>GENRE INSIGHTS FOR PIRACY</vt:lpstr>
      <vt:lpstr>TOP 20 MOST PIRATED MOVIES</vt:lpstr>
      <vt:lpstr>RATINGS VS PIRACY DOWNLOADS</vt:lpstr>
      <vt:lpstr>RATINGS DISTRIBUTION</vt:lpstr>
      <vt:lpstr>STORYLINE ANALYTICS (NLP)</vt:lpstr>
      <vt:lpstr>STORY LENGTH VS DOWNLOADS</vt:lpstr>
      <vt:lpstr>TOP 20 KEYWORDS DRIVING PIRACY</vt:lpstr>
      <vt:lpstr>NLP KEYWORD EXTRACTION</vt:lpstr>
      <vt:lpstr>INSIGHTS &amp; TAKEAWAYS</vt:lpstr>
      <vt:lpstr>BUSINESS VALUE</vt:lpstr>
      <vt:lpstr>CONCLUSION</vt:lpstr>
      <vt:lpstr>FUTURE ENHANCEMENTS</vt:lpstr>
      <vt:lpstr>THANK YOU FOR YOUR PATIENCE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Madhukar Goli</dc:creator>
  <cp:lastModifiedBy>Madhukar Goli</cp:lastModifiedBy>
  <cp:revision>265</cp:revision>
  <dcterms:created xsi:type="dcterms:W3CDTF">2025-11-30T05:21:27Z</dcterms:created>
  <dcterms:modified xsi:type="dcterms:W3CDTF">2025-12-06T07:08:53Z</dcterms:modified>
</cp:coreProperties>
</file>